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</p:sldMasterIdLst>
  <p:notesMasterIdLst>
    <p:notesMasterId r:id="rId16"/>
  </p:notesMasterIdLst>
  <p:handoutMasterIdLst>
    <p:handoutMasterId r:id="rId17"/>
  </p:handoutMasterIdLst>
  <p:sldIdLst>
    <p:sldId id="257" r:id="rId5"/>
    <p:sldId id="37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0A42BE-D8A9-5553-988A-7442DE4A4080}" name="Andrei Rizea" initials="AR" userId="S::andrei.rizea@itsmartsystems.eu::717dec01-bfe8-423d-83a1-0cd626eacbc5" providerId="AD"/>
  <p188:author id="{6302D0CC-D211-AD5F-4BAF-849B5CD701C9}" name="Aurel Nica" initials="AN" userId="S::aurel.nica@itsmartsystems.eu::de53102f-bbc4-4232-88db-c95b7b8da84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5C0"/>
    <a:srgbClr val="0298E3"/>
    <a:srgbClr val="00A0EC"/>
    <a:srgbClr val="194EA5"/>
    <a:srgbClr val="1D48A1"/>
    <a:srgbClr val="2B3595"/>
    <a:srgbClr val="F0F0F0"/>
    <a:srgbClr val="0C61B1"/>
    <a:srgbClr val="BEE3FA"/>
    <a:srgbClr val="03A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D4EAE-D426-864C-AAE2-6A0FD73A0948}" v="186" dt="2025-07-25T07:49:37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D56BA5-B659-006C-29E2-FC75A17D46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B57B1-AAC1-97DE-E2A6-1B61871D72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053B8-80AE-4DAF-8C37-151CAE98F266}" type="datetimeFigureOut">
              <a:rPr lang="en-US" smtClean="0"/>
              <a:t>28/09/2025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5149A-136C-319A-BB73-82FDE2EBE8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CD9D0-8A85-5793-F877-422D888733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CEB6-53BA-4E15-89ED-932D829F0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11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22FDA-22DD-44E3-AF8C-2DE3156E25CB}" type="datetimeFigureOut">
              <a:rPr lang="en-US" smtClean="0"/>
              <a:t>28/09/2025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32559-C416-46EC-BE00-2A3C4502C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8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77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6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4DF7-0D7E-D03A-6C22-2A0ED4A5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DAF96-E3BE-41E0-68F5-424139DED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5D57D-E420-93BD-B078-BB57FDA60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91E45-9252-D553-038C-DFA68977F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45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CC004-EECD-4F4C-79D0-B64149A6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60256-87EB-5493-14A5-AD4A7F0BE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3A3EF-4779-00C9-82F7-14598F152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E0B90-79B5-F0DD-3DD3-3F61283E3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69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903D-8E62-3665-DABB-587F6CBD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EE333-79F4-E506-F70F-8C4A5E9CC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CE061-A84F-7905-8D4E-93DE8F65B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CFA05-86FA-ACEC-2F88-439D918FC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09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F747-C3D8-1446-E1A6-5FE97450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0288A-5E0B-4E20-E953-96C4A7AC8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72B87-A8BC-1488-A70A-9C24D07B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D84CD-F64A-4C13-9E93-793140533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9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FC0CA-31A7-61AB-ED70-50D07853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B81A7-F318-1289-41C6-597AC1C17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F4D2E-9D77-E763-77AE-B9DED2B00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6BB7E-96BC-17C8-E3DF-2833D3B34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95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5AAD-4D0E-04F1-FE41-BA069577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D934F-64DC-D0F2-7DE9-0F0A16D69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C7E2D-0AC8-4704-CF0C-8C5DAF85F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BFC5A-6959-1669-B671-BBD9881CA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16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379DE-D94D-71DA-62BB-4F93165E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96F43-D33F-37C1-B3ED-AC93D12C5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4162E-3D7A-CEC6-EADD-6CA2D3309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7A677-3032-880E-47A6-1A52A54FE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52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65C05-EEDD-0085-165D-9B602052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814C4-465E-A281-39B8-98D5C3D30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C469B-936D-FDA2-CEC5-E378AD292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5817D-CAFD-5059-2B8E-266651DAC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5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9188-9628-7BC4-054F-9AED72BF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F8383-96F3-30DA-6786-F3835D61B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6E18F-F3C5-B511-E579-3DA2B5551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B33D5-A9BA-4670-DA56-C5A415599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57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94ACE59-8E1F-F472-4030-C7DAAB70895A}"/>
              </a:ext>
            </a:extLst>
          </p:cNvPr>
          <p:cNvSpPr/>
          <p:nvPr userDrawn="1"/>
        </p:nvSpPr>
        <p:spPr>
          <a:xfrm>
            <a:off x="5289392" y="261232"/>
            <a:ext cx="6335533" cy="6335533"/>
          </a:xfrm>
          <a:prstGeom prst="ellipse">
            <a:avLst/>
          </a:prstGeom>
          <a:gradFill flip="none" rotWithShape="1">
            <a:gsLst>
              <a:gs pos="34000">
                <a:srgbClr val="0588D4"/>
              </a:gs>
              <a:gs pos="0">
                <a:srgbClr val="0298E3"/>
              </a:gs>
              <a:gs pos="75000">
                <a:srgbClr val="0C61B1"/>
              </a:gs>
              <a:gs pos="100000">
                <a:srgbClr val="2B359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138D1A-C3A6-EC85-C434-F52EAC89C0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5360" y="4000501"/>
            <a:ext cx="2537460" cy="1318259"/>
          </a:xfrm>
        </p:spPr>
        <p:txBody>
          <a:bodyPr anchor="t">
            <a:normAutofit/>
          </a:bodyPr>
          <a:lstStyle>
            <a:lvl1pPr algn="l">
              <a:lnSpc>
                <a:spcPts val="3200"/>
              </a:lnSpc>
              <a:defRPr sz="3200">
                <a:latin typeface="+mn-lt"/>
              </a:defRPr>
            </a:lvl1pPr>
          </a:lstStyle>
          <a:p>
            <a:r>
              <a:rPr lang="en-GB"/>
              <a:t>Your Gorgeous Title Here</a:t>
            </a:r>
            <a:endParaRPr lang="ro-R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D7A55B-8097-49A8-C023-C3A35D8924B0}"/>
              </a:ext>
            </a:extLst>
          </p:cNvPr>
          <p:cNvSpPr/>
          <p:nvPr userDrawn="1"/>
        </p:nvSpPr>
        <p:spPr>
          <a:xfrm>
            <a:off x="6247821" y="838199"/>
            <a:ext cx="5181600" cy="5181600"/>
          </a:xfrm>
          <a:prstGeom prst="ellipse">
            <a:avLst/>
          </a:prstGeom>
          <a:blipFill>
            <a:blip r:embed="rId2"/>
            <a:stretch>
              <a:fillRect l="-33529" t="-38896" r="-71765" b="-326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9AA82C-0D39-A067-4DAD-1439FCC5A0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25" y="1807784"/>
            <a:ext cx="3629892" cy="16212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227FB2-8D30-96D8-C335-0CF7B49E0866}"/>
              </a:ext>
            </a:extLst>
          </p:cNvPr>
          <p:cNvCxnSpPr/>
          <p:nvPr userDrawn="1"/>
        </p:nvCxnSpPr>
        <p:spPr>
          <a:xfrm>
            <a:off x="762579" y="3428999"/>
            <a:ext cx="2395220" cy="0"/>
          </a:xfrm>
          <a:prstGeom prst="line">
            <a:avLst/>
          </a:prstGeom>
          <a:ln w="12700" cap="rnd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52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4734-831F-1C4C-BBEB-904AFFD9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1"/>
            <a:ext cx="11134184" cy="593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0FE7-4EAC-254E-AA2E-AF380D16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1" y="2647665"/>
            <a:ext cx="11134183" cy="3118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0F77EE-AB20-E1FB-B6DD-5C8732A3AF9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32ABB5-A77B-38C9-3274-C8B5D607DC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98E3F4-E66B-53FB-2956-FE47C7EAB4B6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F52CC21A-4009-26C2-CC7A-8DD283C4A46F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4E470B-97A0-65C5-89A4-E21879627711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6C37A4-6F08-FC5B-79D2-9EC3A2678BC3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6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C419-19B1-8245-9C13-B60B7D2AC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440" y="1082041"/>
            <a:ext cx="11239500" cy="22860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51D30-1DCD-DF40-A91B-0E10E4523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" y="3602037"/>
            <a:ext cx="11239500" cy="217392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360E3A-E40C-784C-E6F0-55D884C93E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8676"/>
            <a:ext cx="1657743" cy="7403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26B2F1-4681-A032-738F-2B89F3431213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12BC632E-00A9-BFF4-A5EC-44C20BD04896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DF107-382E-E66E-D301-7E398D07D1D5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36CF4D-7988-B175-AD7C-172C8321A7AD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CAA882-0CF1-A1EC-3677-327997B263C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638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FEC7-9CEB-4044-BAD0-AF9D151E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C66E-36AE-7443-BF7C-ABB1605FE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60" y="2647666"/>
            <a:ext cx="5479462" cy="3118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DCB9B-0CE6-2345-989F-A396873D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928" y="2647666"/>
            <a:ext cx="5386316" cy="311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95081E-F8EA-229B-0ABC-78AF6490EE4F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FE35F5-735A-68CA-87C8-5FD8B35A2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2E172F-42B0-93D1-FE97-FE159F2C3AE0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3EEB3BA7-9DD4-9867-ED03-7CA2EF56BC2E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F6DD-3224-8A82-50D7-E859FF1325CC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5635EA-0EBE-DB3C-B3C1-5901943D0D70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9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31E4-8B39-4345-A787-4DAF9F35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1091821"/>
            <a:ext cx="11134980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09A7-8D77-754D-9F49-7F656D81D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0" y="1690687"/>
            <a:ext cx="5478779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578DF-6A62-6E45-BE3E-26302F4D4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" y="2644139"/>
            <a:ext cx="5478779" cy="3122039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F3CC5-FE37-7F4F-833A-E69E5774C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3162" y="1690687"/>
            <a:ext cx="5385632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807D-A720-F241-9BB2-F122E019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3162" y="2644139"/>
            <a:ext cx="5385632" cy="312204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A9E9F2-3D91-499D-E9E4-52170B2ABD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C8C29A-70A6-F72E-B19C-BB2C3D147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459290-3797-AF94-5023-42378B4883D5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>
            <a:extLst>
              <a:ext uri="{FF2B5EF4-FFF2-40B4-BE49-F238E27FC236}">
                <a16:creationId xmlns:a16="http://schemas.microsoft.com/office/drawing/2014/main" id="{3C0047E0-018D-E768-5225-D653CC9F984B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FAAFA-90B6-4AC3-DAC8-F75E9B1E5EF8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3B92D3-9E21-F538-7E6B-F4D197AE1C12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32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979A-6F45-3E4A-A60A-EFFA3826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7280"/>
            <a:ext cx="5486400" cy="9601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547A6-5743-E643-B453-E57FD81B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160" y="1097280"/>
            <a:ext cx="5379720" cy="4671060"/>
          </a:xfrm>
        </p:spPr>
        <p:txBody>
          <a:bodyPr/>
          <a:lstStyle>
            <a:lvl1pPr marL="0" indent="0">
              <a:buFontTx/>
              <a:buNone/>
              <a:defRPr sz="3200"/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95366-C54A-DC4F-BB94-E48789E2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110740"/>
            <a:ext cx="5486400" cy="36499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DCFD7E-9D42-62AC-A809-1AAE7C4FD2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9B3F6E6-3640-7AFA-9A62-999FC8A52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D2DA7D-5D4C-F303-98F2-E86BD3625EF1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9AAF13FD-F910-DF5B-7ED1-4C7B3E9592FC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47E5C-F5AC-5E8C-AE46-E40BF29A9F3A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F38CED-567C-4A8E-F2C1-3FC6D554A9FC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A0D6-847E-0446-A7EE-29C6004B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987424"/>
            <a:ext cx="4366260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47C8B-D78A-2D4F-A119-C27F10664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528752" cy="47885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707EF-1848-FF46-882C-FD33F01F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057400"/>
            <a:ext cx="4366260" cy="37185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75D1F7-AC41-546B-3080-5C106F5F1B9C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E816371-8451-D6C0-AE90-BCFECC031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C209DD-08A6-166A-C4AB-18FF3C93C8BD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1B5967EF-DB7C-26FA-AA47-96AADBFCC74C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1F4F1-C195-307A-B725-01E9DF2B3B27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FBED8F-8A74-BF47-3016-D17DAE49D9AD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55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49E18-793C-2B51-A43A-5E301EDC3D21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AC1A3F1-04CA-3BC4-F9A6-AB4FA7E2D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A8AF4F-6C14-B714-A9C6-AA48A8B97600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4">
            <a:extLst>
              <a:ext uri="{FF2B5EF4-FFF2-40B4-BE49-F238E27FC236}">
                <a16:creationId xmlns:a16="http://schemas.microsoft.com/office/drawing/2014/main" id="{A11B5089-D054-255D-5754-AE2554C521D8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C17EC-194A-C300-96F8-0490E2E322E6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67F66A-A3C2-CD12-4A95-93BC290565C6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45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08BA-224D-554D-8E3F-776806D9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8B1F5F-8B46-975E-4688-02E3964CD08A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678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Fix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8138D1A-C3A6-EC85-C434-F52EAC89C0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9635" y="1627348"/>
            <a:ext cx="6939916" cy="2336481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baseline="0">
                <a:solidFill>
                  <a:schemeClr val="tx1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en-GB"/>
              <a:t>Your Gorgeous Title</a:t>
            </a:r>
            <a:endParaRPr lang="ro-RO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3ABFB0-D892-DB35-B947-DC66C1E2D6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9635" y="4037174"/>
            <a:ext cx="6940550" cy="506413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7937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4734-831F-1C4C-BBEB-904AFFD9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1"/>
            <a:ext cx="11134184" cy="59368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0FE7-4EAC-254E-AA2E-AF380D16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1" y="2647665"/>
            <a:ext cx="11134183" cy="31185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0F77EE-AB20-E1FB-B6DD-5C8732A3AF9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856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FEC7-9CEB-4044-BAD0-AF9D151E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C66E-36AE-7443-BF7C-ABB1605FE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60" y="2647666"/>
            <a:ext cx="5479462" cy="3118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DCB9B-0CE6-2345-989F-A396873D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928" y="2647666"/>
            <a:ext cx="5386316" cy="3118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95081E-F8EA-229B-0ABC-78AF6490EE4F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3898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31E4-8B39-4345-A787-4DAF9F35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1091821"/>
            <a:ext cx="11134980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09A7-8D77-754D-9F49-7F656D81D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0" y="1690687"/>
            <a:ext cx="5478779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578DF-6A62-6E45-BE3E-26302F4D4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" y="2644139"/>
            <a:ext cx="5478779" cy="3122039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F3CC5-FE37-7F4F-833A-E69E5774C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3162" y="1690687"/>
            <a:ext cx="5385632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807D-A720-F241-9BB2-F122E019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3162" y="2644139"/>
            <a:ext cx="5385632" cy="312204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A9E9F2-3D91-499D-E9E4-52170B2ABD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7002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979A-6F45-3E4A-A60A-EFFA3826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7280"/>
            <a:ext cx="5486400" cy="9601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547A6-5743-E643-B453-E57FD81B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160" y="1097280"/>
            <a:ext cx="5379720" cy="4671060"/>
          </a:xfrm>
        </p:spPr>
        <p:txBody>
          <a:bodyPr/>
          <a:lstStyle>
            <a:lvl1pPr marL="0" indent="0">
              <a:buFontTx/>
              <a:buNone/>
              <a:defRPr sz="3200"/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95366-C54A-DC4F-BB94-E48789E2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110740"/>
            <a:ext cx="5486400" cy="36499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DCFD7E-9D42-62AC-A809-1AAE7C4FD2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7836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A0D6-847E-0446-A7EE-29C6004B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987424"/>
            <a:ext cx="4366260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47C8B-D78A-2D4F-A119-C27F10664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528752" cy="47885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707EF-1848-FF46-882C-FD33F01F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057400"/>
            <a:ext cx="4366260" cy="37185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75D1F7-AC41-546B-3080-5C106F5F1B9C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9726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08BA-224D-554D-8E3F-776806D9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3328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5A698-B3EA-814E-862F-371679D32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F3A9-4B98-A046-8F42-C76F0F9EA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1" y="2647665"/>
            <a:ext cx="11134183" cy="3118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661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9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ub.docker.com/explore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hat.com/en/topics/cloud-native-app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hyperlink" Target="https://www.redhat.com/en/topics/cloud-native-apps/why-choose-red-hat-cloud-native" TargetMode="External"/><Relationship Id="rId4" Type="http://schemas.openxmlformats.org/officeDocument/2006/relationships/hyperlink" Target="https://www.redhat.com/en/topics/automation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425E-0EAC-F8AB-539C-E284904F4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212" y="4049280"/>
            <a:ext cx="4926677" cy="1318259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ea typeface="Roboto Medium"/>
                <a:cs typeface="Roboto Medium"/>
              </a:rPr>
              <a:t>Docker</a:t>
            </a:r>
            <a:br>
              <a:rPr lang="en-US" b="1" dirty="0">
                <a:ea typeface="Roboto Medium"/>
                <a:cs typeface="Roboto Medium"/>
              </a:rPr>
            </a:br>
            <a:r>
              <a:rPr lang="en-US" b="1" dirty="0">
                <a:ea typeface="Roboto Medium"/>
                <a:cs typeface="Roboto Medium"/>
              </a:rPr>
              <a:t>Continuous integration</a:t>
            </a:r>
            <a:br>
              <a:rPr lang="en-US" b="1" dirty="0">
                <a:ea typeface="Roboto Medium"/>
                <a:cs typeface="Roboto Medium"/>
              </a:rPr>
            </a:br>
            <a:r>
              <a:rPr lang="en-US" b="1" dirty="0">
                <a:ea typeface="Roboto Medium"/>
                <a:cs typeface="Roboto Medium"/>
              </a:rPr>
              <a:t>Continuous delivery</a:t>
            </a:r>
            <a:endParaRPr lang="en-US" b="1" dirty="0">
              <a:solidFill>
                <a:srgbClr val="194EA5"/>
              </a:solidFill>
              <a:latin typeface="+mj-lt"/>
              <a:ea typeface="Roboto Medium"/>
              <a:cs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2363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6B29-58F8-1DFF-F2AF-58937F51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What is docker?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3BE72-679B-9B8A-31A4-52F7765A21D1}"/>
              </a:ext>
            </a:extLst>
          </p:cNvPr>
          <p:cNvSpPr txBox="1"/>
          <p:nvPr/>
        </p:nvSpPr>
        <p:spPr>
          <a:xfrm>
            <a:off x="263525" y="1778571"/>
            <a:ext cx="6944894" cy="15192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000" dirty="0"/>
              <a:t>	An </a:t>
            </a:r>
            <a:r>
              <a:rPr lang="en-US" sz="2000" dirty="0">
                <a:solidFill>
                  <a:srgbClr val="0075C0"/>
                </a:solidFill>
              </a:rPr>
              <a:t>open-source</a:t>
            </a:r>
            <a:r>
              <a:rPr lang="en-US" sz="2000" dirty="0"/>
              <a:t> project that </a:t>
            </a:r>
            <a:r>
              <a:rPr lang="en-US" sz="2000" dirty="0">
                <a:solidFill>
                  <a:srgbClr val="0075C0"/>
                </a:solidFill>
              </a:rPr>
              <a:t>automates</a:t>
            </a:r>
            <a:r>
              <a:rPr lang="en-US" sz="2000" dirty="0"/>
              <a:t> the </a:t>
            </a:r>
            <a:r>
              <a:rPr lang="en-US" sz="2000" dirty="0">
                <a:solidFill>
                  <a:srgbClr val="0075C0"/>
                </a:solidFill>
              </a:rPr>
              <a:t>deployment</a:t>
            </a:r>
            <a:r>
              <a:rPr lang="en-US" sz="2000" dirty="0"/>
              <a:t> of software applications inside </a:t>
            </a:r>
            <a:r>
              <a:rPr lang="en-US" sz="2000" dirty="0">
                <a:solidFill>
                  <a:srgbClr val="0075C0"/>
                </a:solidFill>
              </a:rPr>
              <a:t>containers</a:t>
            </a:r>
            <a:r>
              <a:rPr lang="en-US" sz="2000" dirty="0"/>
              <a:t> by providing an additional layer of abstraction and automation of OS-level virtualization on Linux.</a:t>
            </a:r>
          </a:p>
          <a:p>
            <a:endParaRPr lang="en-RO" sz="1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7D81E3B-65ED-4E76-1D5B-5558107CCE9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639" y="1091820"/>
            <a:ext cx="2886836" cy="68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BE54371-AD32-EE8A-F915-BEA7F692AA20}"/>
              </a:ext>
            </a:extLst>
          </p:cNvPr>
          <p:cNvSpPr txBox="1">
            <a:spLocks/>
          </p:cNvSpPr>
          <p:nvPr/>
        </p:nvSpPr>
        <p:spPr>
          <a:xfrm>
            <a:off x="263525" y="3429000"/>
            <a:ext cx="10875600" cy="1935505"/>
          </a:xfrm>
          <a:custGeom>
            <a:avLst/>
            <a:gdLst>
              <a:gd name="connsiteX0" fmla="*/ 0 w 10489176"/>
              <a:gd name="connsiteY0" fmla="*/ 0 h 5058000"/>
              <a:gd name="connsiteX1" fmla="*/ 10489176 w 10489176"/>
              <a:gd name="connsiteY1" fmla="*/ 0 h 5058000"/>
              <a:gd name="connsiteX2" fmla="*/ 10489176 w 10489176"/>
              <a:gd name="connsiteY2" fmla="*/ 5058000 h 5058000"/>
              <a:gd name="connsiteX3" fmla="*/ 0 w 10489176"/>
              <a:gd name="connsiteY3" fmla="*/ 5058000 h 50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89176" h="5058000">
                <a:moveTo>
                  <a:pt x="0" y="0"/>
                </a:moveTo>
                <a:lnTo>
                  <a:pt x="10489176" y="0"/>
                </a:lnTo>
                <a:lnTo>
                  <a:pt x="10489176" y="5058000"/>
                </a:lnTo>
                <a:lnTo>
                  <a:pt x="0" y="5058000"/>
                </a:lnTo>
                <a:close/>
              </a:path>
            </a:pathLst>
          </a:cu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	Allows users to </a:t>
            </a:r>
            <a:r>
              <a:rPr lang="en-US" sz="2000" dirty="0">
                <a:solidFill>
                  <a:srgbClr val="0075C0"/>
                </a:solidFill>
              </a:rPr>
              <a:t>package</a:t>
            </a:r>
            <a:r>
              <a:rPr lang="en-US" sz="2000" dirty="0"/>
              <a:t> an application with </a:t>
            </a:r>
            <a:r>
              <a:rPr lang="en-US" sz="2000" dirty="0">
                <a:solidFill>
                  <a:srgbClr val="0075C0"/>
                </a:solidFill>
              </a:rPr>
              <a:t>all its dependencies </a:t>
            </a:r>
            <a:r>
              <a:rPr lang="en-US" sz="2000" dirty="0"/>
              <a:t>into a standardized unit for software development. </a:t>
            </a:r>
          </a:p>
          <a:p>
            <a:endParaRPr lang="en-US" sz="2000" dirty="0"/>
          </a:p>
          <a:p>
            <a:r>
              <a:rPr lang="en-US" sz="2000" dirty="0"/>
              <a:t>	Unlike </a:t>
            </a:r>
            <a:r>
              <a:rPr lang="en-US" sz="2000" dirty="0">
                <a:solidFill>
                  <a:srgbClr val="0075C0"/>
                </a:solidFill>
              </a:rPr>
              <a:t>virtual machines</a:t>
            </a:r>
            <a:r>
              <a:rPr lang="en-US" sz="2000" dirty="0"/>
              <a:t>, containers do not have high overhead and hence enable </a:t>
            </a:r>
            <a:r>
              <a:rPr lang="en-US" sz="2000" dirty="0">
                <a:solidFill>
                  <a:srgbClr val="0075C0"/>
                </a:solidFill>
              </a:rPr>
              <a:t>more</a:t>
            </a:r>
            <a:r>
              <a:rPr lang="en-US" sz="2000" dirty="0">
                <a:solidFill>
                  <a:srgbClr val="FF6200"/>
                </a:solidFill>
              </a:rPr>
              <a:t> </a:t>
            </a:r>
            <a:r>
              <a:rPr lang="en-US" sz="2000" dirty="0">
                <a:solidFill>
                  <a:srgbClr val="0075C0"/>
                </a:solidFill>
              </a:rPr>
              <a:t>efficient</a:t>
            </a:r>
            <a:r>
              <a:rPr lang="en-US" sz="2000" dirty="0"/>
              <a:t> usage of the underlying system and resources.</a:t>
            </a:r>
          </a:p>
        </p:txBody>
      </p:sp>
    </p:spTree>
    <p:extLst>
      <p:ext uri="{BB962C8B-B14F-4D97-AF65-F5344CB8AC3E}">
        <p14:creationId xmlns:p14="http://schemas.microsoft.com/office/powerpoint/2010/main" val="210899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04F0-F803-03BA-FE45-EAA2083F6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76E0-0E88-E50E-B9BD-DDECAF48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Terminology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A1107FE-76E5-DC8C-C24D-3A95E2744B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639" y="1091820"/>
            <a:ext cx="2886836" cy="68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38592E-DEAC-BEAC-5556-696B1D576F95}"/>
              </a:ext>
            </a:extLst>
          </p:cNvPr>
          <p:cNvSpPr txBox="1"/>
          <p:nvPr/>
        </p:nvSpPr>
        <p:spPr>
          <a:xfrm>
            <a:off x="714542" y="1828800"/>
            <a:ext cx="11141803" cy="39814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rgbClr val="3C4043"/>
                </a:solidFill>
                <a:effectLst/>
              </a:rPr>
              <a:t> </a:t>
            </a:r>
            <a:r>
              <a:rPr lang="en-GB" sz="2000" b="0" i="1" dirty="0">
                <a:solidFill>
                  <a:srgbClr val="0075C0"/>
                </a:solidFill>
                <a:effectLst/>
              </a:rPr>
              <a:t>Images</a:t>
            </a:r>
            <a:r>
              <a:rPr lang="en-GB" sz="2000" b="0" i="0" dirty="0">
                <a:solidFill>
                  <a:srgbClr val="3C4043"/>
                </a:solidFill>
                <a:effectLst/>
              </a:rPr>
              <a:t> - The blueprints of our application which form the basis of containers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3C404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rgbClr val="3C4043"/>
                </a:solidFill>
                <a:effectLst/>
              </a:rPr>
              <a:t> </a:t>
            </a:r>
            <a:r>
              <a:rPr lang="en-GB" sz="2000" b="0" i="1" dirty="0">
                <a:solidFill>
                  <a:srgbClr val="0075C0"/>
                </a:solidFill>
                <a:effectLst/>
              </a:rPr>
              <a:t>Containers</a:t>
            </a:r>
            <a:r>
              <a:rPr lang="en-GB" sz="2000" b="0" i="0" dirty="0">
                <a:solidFill>
                  <a:srgbClr val="3C4043"/>
                </a:solidFill>
                <a:effectLst/>
              </a:rPr>
              <a:t> - Created from Docker images and run the actual application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3C404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rgbClr val="3C4043"/>
                </a:solidFill>
                <a:effectLst/>
              </a:rPr>
              <a:t> </a:t>
            </a:r>
            <a:r>
              <a:rPr lang="en-GB" sz="2000" b="0" i="1" dirty="0">
                <a:solidFill>
                  <a:srgbClr val="0075C0"/>
                </a:solidFill>
                <a:effectLst/>
              </a:rPr>
              <a:t>Docker Daemon</a:t>
            </a:r>
            <a:r>
              <a:rPr lang="en-GB" sz="2000" b="0" i="0" dirty="0">
                <a:solidFill>
                  <a:srgbClr val="0075C0"/>
                </a:solidFill>
                <a:effectLst/>
              </a:rPr>
              <a:t> </a:t>
            </a:r>
            <a:r>
              <a:rPr lang="en-GB" sz="2000" b="0" i="0" dirty="0">
                <a:solidFill>
                  <a:srgbClr val="3C4043"/>
                </a:solidFill>
                <a:effectLst/>
              </a:rPr>
              <a:t>- The background service running on the host that manages building, running and distributing Docker containers. The daemon is the process that runs in the operating system which clients talk to.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3C404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rgbClr val="3C4043"/>
                </a:solidFill>
                <a:effectLst/>
              </a:rPr>
              <a:t> </a:t>
            </a:r>
            <a:r>
              <a:rPr lang="en-GB" sz="2000" b="0" i="1" dirty="0">
                <a:solidFill>
                  <a:srgbClr val="0075C0"/>
                </a:solidFill>
                <a:effectLst/>
              </a:rPr>
              <a:t>Docker Client</a:t>
            </a:r>
            <a:r>
              <a:rPr lang="en-GB" sz="2000" b="0" i="0" dirty="0">
                <a:solidFill>
                  <a:srgbClr val="0075C0"/>
                </a:solidFill>
                <a:effectLst/>
              </a:rPr>
              <a:t> </a:t>
            </a:r>
            <a:r>
              <a:rPr lang="en-GB" sz="2000" b="0" i="0" dirty="0">
                <a:solidFill>
                  <a:srgbClr val="3C4043"/>
                </a:solidFill>
                <a:effectLst/>
              </a:rPr>
              <a:t>- The command line tool that allows the user to interact with the daemon.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3C404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rgbClr val="3C4043"/>
                </a:solidFill>
                <a:effectLst/>
              </a:rPr>
              <a:t> </a:t>
            </a:r>
            <a:r>
              <a:rPr lang="en-GB" sz="2000" b="0" i="1" dirty="0">
                <a:solidFill>
                  <a:srgbClr val="0075C0"/>
                </a:solidFill>
                <a:effectLst/>
              </a:rPr>
              <a:t>Docker Hub</a:t>
            </a:r>
            <a:r>
              <a:rPr lang="en-GB" sz="2000" b="0" i="0" dirty="0">
                <a:solidFill>
                  <a:srgbClr val="0075C0"/>
                </a:solidFill>
                <a:effectLst/>
              </a:rPr>
              <a:t> </a:t>
            </a:r>
            <a:r>
              <a:rPr lang="en-GB" sz="2000" b="0" i="0" dirty="0">
                <a:solidFill>
                  <a:srgbClr val="3C4043"/>
                </a:solidFill>
                <a:effectLst/>
              </a:rPr>
              <a:t>- A </a:t>
            </a:r>
            <a:r>
              <a:rPr lang="en-GB" sz="2000" b="0" i="0" u="none" strike="noStrike" dirty="0">
                <a:solidFill>
                  <a:srgbClr val="0088CC"/>
                </a:solidFill>
                <a:effectLst/>
                <a:hlinkClick r:id="rId4"/>
              </a:rPr>
              <a:t>registry</a:t>
            </a:r>
            <a:r>
              <a:rPr lang="en-GB" sz="2000" b="0" i="0" dirty="0">
                <a:solidFill>
                  <a:srgbClr val="3C4043"/>
                </a:solidFill>
                <a:effectLst/>
              </a:rPr>
              <a:t> of Docker images. The registry is as a directory of all available Docker images. If required, one can host their own Docker registries and can use them for pulling images.</a:t>
            </a:r>
          </a:p>
          <a:p>
            <a:endParaRPr lang="en-RO" sz="1400" dirty="0"/>
          </a:p>
        </p:txBody>
      </p:sp>
    </p:spTree>
    <p:extLst>
      <p:ext uri="{BB962C8B-B14F-4D97-AF65-F5344CB8AC3E}">
        <p14:creationId xmlns:p14="http://schemas.microsoft.com/office/powerpoint/2010/main" val="210156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D029A-8545-7BEB-C28C-0F640F12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28F-6EBE-FFB7-CA23-AAB93088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Docker commands with a basic image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0616074-367F-9D2C-48FB-461A2E97649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639" y="1091820"/>
            <a:ext cx="2886836" cy="68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31EAF-1397-FB90-DEEE-37A1166FCE5B}"/>
              </a:ext>
            </a:extLst>
          </p:cNvPr>
          <p:cNvSpPr txBox="1"/>
          <p:nvPr/>
        </p:nvSpPr>
        <p:spPr>
          <a:xfrm>
            <a:off x="714542" y="1828800"/>
            <a:ext cx="11141803" cy="459701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000" dirty="0"/>
              <a:t>$ docker pull hello-world     </a:t>
            </a:r>
            <a:r>
              <a:rPr lang="en-US" sz="2000" i="1" dirty="0"/>
              <a:t>// fetches the image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$ docker images       </a:t>
            </a:r>
            <a:r>
              <a:rPr lang="en-US" sz="2000" i="1" dirty="0"/>
              <a:t>// see a list with all the images in the system</a:t>
            </a:r>
          </a:p>
          <a:p>
            <a:endParaRPr lang="en-US" sz="2000" dirty="0"/>
          </a:p>
          <a:p>
            <a:r>
              <a:rPr lang="en-GB" sz="2000" dirty="0"/>
              <a:t>$ docker run hello-world     </a:t>
            </a:r>
            <a:r>
              <a:rPr lang="en-GB" sz="2000" i="1" dirty="0"/>
              <a:t>// runs the container</a:t>
            </a:r>
          </a:p>
          <a:p>
            <a:endParaRPr lang="en-GB" sz="2000" dirty="0"/>
          </a:p>
          <a:p>
            <a:r>
              <a:rPr lang="en-GB" sz="2000" dirty="0"/>
              <a:t>$ docker </a:t>
            </a:r>
            <a:r>
              <a:rPr lang="en-GB" sz="2000" dirty="0" err="1"/>
              <a:t>ps</a:t>
            </a:r>
            <a:r>
              <a:rPr lang="en-GB" sz="2000" dirty="0"/>
              <a:t>                    </a:t>
            </a:r>
            <a:r>
              <a:rPr lang="en-GB" sz="2000" i="1" dirty="0"/>
              <a:t>// shows the running containers</a:t>
            </a:r>
          </a:p>
          <a:p>
            <a:endParaRPr lang="en-GB" sz="2000" dirty="0"/>
          </a:p>
          <a:p>
            <a:r>
              <a:rPr lang="en-GB" sz="2000" dirty="0"/>
              <a:t>$ docker </a:t>
            </a:r>
            <a:r>
              <a:rPr lang="en-GB" sz="2000" dirty="0" err="1"/>
              <a:t>ps</a:t>
            </a:r>
            <a:r>
              <a:rPr lang="en-GB" sz="2000" dirty="0"/>
              <a:t> -a              </a:t>
            </a:r>
            <a:r>
              <a:rPr lang="en-GB" sz="2000" i="1" dirty="0"/>
              <a:t>// shows all the containers</a:t>
            </a:r>
          </a:p>
          <a:p>
            <a:endParaRPr lang="en-GB" sz="2000" i="1" dirty="0"/>
          </a:p>
          <a:p>
            <a:r>
              <a:rPr lang="en-GB" sz="2000" dirty="0"/>
              <a:t>$ docker stop &lt;</a:t>
            </a:r>
            <a:r>
              <a:rPr lang="en-GB" sz="2000" dirty="0" err="1"/>
              <a:t>container_id</a:t>
            </a:r>
            <a:r>
              <a:rPr lang="en-GB" sz="2000" dirty="0"/>
              <a:t>&gt; // stops the container</a:t>
            </a:r>
          </a:p>
          <a:p>
            <a:endParaRPr lang="en-GB" sz="2000" i="1" dirty="0"/>
          </a:p>
          <a:p>
            <a:r>
              <a:rPr lang="en-GB" sz="2000" dirty="0"/>
              <a:t>$ docker rm &lt;</a:t>
            </a:r>
            <a:r>
              <a:rPr lang="en-GB" sz="2000" dirty="0" err="1"/>
              <a:t>container_id</a:t>
            </a:r>
            <a:r>
              <a:rPr lang="en-GB" sz="2000" dirty="0"/>
              <a:t>&gt;  </a:t>
            </a:r>
            <a:r>
              <a:rPr lang="en-GB" sz="2000" i="1" dirty="0"/>
              <a:t>// removes the container</a:t>
            </a:r>
          </a:p>
          <a:p>
            <a:endParaRPr lang="en-GB" sz="2000" dirty="0"/>
          </a:p>
          <a:p>
            <a:endParaRPr lang="en-RO" sz="1400" dirty="0"/>
          </a:p>
        </p:txBody>
      </p:sp>
    </p:spTree>
    <p:extLst>
      <p:ext uri="{BB962C8B-B14F-4D97-AF65-F5344CB8AC3E}">
        <p14:creationId xmlns:p14="http://schemas.microsoft.com/office/powerpoint/2010/main" val="76851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D70A7-566B-A355-1FCF-8850AC4F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26B5-B296-BFD3-7319-76D36549E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0260" y="3085816"/>
            <a:ext cx="11381740" cy="781334"/>
          </a:xfrm>
        </p:spPr>
        <p:txBody>
          <a:bodyPr/>
          <a:lstStyle/>
          <a:p>
            <a:r>
              <a:rPr lang="en-US" b="1" dirty="0"/>
              <a:t>MySQL – How to use a container as a database for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246571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D548C-FCF9-39B7-17E9-674D6C44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E1C3-40CE-B54A-AA01-AF496D3B1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Docker compose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552E8D3-58D8-C99C-2557-2D4C073B2A7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639" y="1091820"/>
            <a:ext cx="2886836" cy="68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D656E3-A91B-2F11-DF9A-20916C9E95CB}"/>
              </a:ext>
            </a:extLst>
          </p:cNvPr>
          <p:cNvSpPr txBox="1"/>
          <p:nvPr/>
        </p:nvSpPr>
        <p:spPr>
          <a:xfrm>
            <a:off x="714543" y="1828800"/>
            <a:ext cx="9166058" cy="39814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	A tool for defining and running </a:t>
            </a:r>
            <a:r>
              <a:rPr lang="en-US" sz="2000" dirty="0">
                <a:solidFill>
                  <a:srgbClr val="0075C0"/>
                </a:solidFill>
              </a:rPr>
              <a:t>multi-container</a:t>
            </a:r>
            <a:r>
              <a:rPr lang="en-US" sz="2000" dirty="0"/>
              <a:t> Docker applications.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	It provides a configuration file called </a:t>
            </a:r>
            <a:r>
              <a:rPr lang="en-GB" sz="2000" dirty="0">
                <a:solidFill>
                  <a:srgbClr val="0075C0"/>
                </a:solidFill>
              </a:rPr>
              <a:t>docker-</a:t>
            </a:r>
            <a:r>
              <a:rPr lang="en-GB" sz="2000" dirty="0" err="1">
                <a:solidFill>
                  <a:srgbClr val="0075C0"/>
                </a:solidFill>
              </a:rPr>
              <a:t>compose.yml</a:t>
            </a:r>
            <a:r>
              <a:rPr lang="en-GB" sz="2000" dirty="0">
                <a:solidFill>
                  <a:srgbClr val="0075C0"/>
                </a:solidFill>
              </a:rPr>
              <a:t> </a:t>
            </a:r>
            <a:r>
              <a:rPr lang="en-GB" sz="2000" dirty="0"/>
              <a:t>that can be used to bring up an application and the suite of services it depends on with just one command. </a:t>
            </a:r>
          </a:p>
          <a:p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	</a:t>
            </a:r>
            <a:r>
              <a:rPr lang="en-GB" sz="2000" dirty="0">
                <a:solidFill>
                  <a:srgbClr val="0075C0"/>
                </a:solidFill>
              </a:rPr>
              <a:t>Compose</a:t>
            </a:r>
            <a:r>
              <a:rPr lang="en-GB" sz="2000" dirty="0"/>
              <a:t> works in all environments: production, staging, development, testing, as well as CI workflows, although Compose is ideal for </a:t>
            </a:r>
            <a:r>
              <a:rPr lang="en-GB" sz="2000" dirty="0">
                <a:solidFill>
                  <a:srgbClr val="0075C0"/>
                </a:solidFill>
              </a:rPr>
              <a:t>development</a:t>
            </a:r>
            <a:r>
              <a:rPr lang="en-GB" sz="2000" dirty="0"/>
              <a:t> and </a:t>
            </a:r>
            <a:r>
              <a:rPr lang="en-GB" sz="2000" dirty="0">
                <a:solidFill>
                  <a:srgbClr val="0075C0"/>
                </a:solidFill>
              </a:rPr>
              <a:t>testing</a:t>
            </a:r>
            <a:r>
              <a:rPr lang="en-GB" sz="2000" dirty="0"/>
              <a:t> environments.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$ docker compose up -d     </a:t>
            </a:r>
            <a:r>
              <a:rPr lang="en-US" sz="2000" i="1" dirty="0"/>
              <a:t>// runs containers in detached mode</a:t>
            </a:r>
            <a:endParaRPr lang="en-US" sz="2000" dirty="0"/>
          </a:p>
          <a:p>
            <a:endParaRPr lang="en-GB" sz="2000" dirty="0"/>
          </a:p>
          <a:p>
            <a:endParaRPr lang="en-RO" sz="1400" dirty="0"/>
          </a:p>
        </p:txBody>
      </p:sp>
    </p:spTree>
    <p:extLst>
      <p:ext uri="{BB962C8B-B14F-4D97-AF65-F5344CB8AC3E}">
        <p14:creationId xmlns:p14="http://schemas.microsoft.com/office/powerpoint/2010/main" val="266134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9A047-2251-2E42-ABB9-3F98C0B0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9F1F-3B9A-B076-A250-8BB64207E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0260" y="3085816"/>
            <a:ext cx="11381740" cy="781334"/>
          </a:xfrm>
        </p:spPr>
        <p:txBody>
          <a:bodyPr/>
          <a:lstStyle/>
          <a:p>
            <a:r>
              <a:rPr lang="en-US" b="1" dirty="0"/>
              <a:t>Our application – Run the application in a container</a:t>
            </a:r>
          </a:p>
        </p:txBody>
      </p:sp>
    </p:spTree>
    <p:extLst>
      <p:ext uri="{BB962C8B-B14F-4D97-AF65-F5344CB8AC3E}">
        <p14:creationId xmlns:p14="http://schemas.microsoft.com/office/powerpoint/2010/main" val="2995717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9392F-F034-DDC9-29C0-BC6D2429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C560-3199-D735-C870-5FBB7193F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0260" y="3085816"/>
            <a:ext cx="11381740" cy="781334"/>
          </a:xfrm>
        </p:spPr>
        <p:txBody>
          <a:bodyPr/>
          <a:lstStyle/>
          <a:p>
            <a:r>
              <a:rPr lang="en-US" b="1" dirty="0"/>
              <a:t>CI/CD (Continuous integration / Continuous Delivery)</a:t>
            </a:r>
          </a:p>
        </p:txBody>
      </p:sp>
    </p:spTree>
    <p:extLst>
      <p:ext uri="{BB962C8B-B14F-4D97-AF65-F5344CB8AC3E}">
        <p14:creationId xmlns:p14="http://schemas.microsoft.com/office/powerpoint/2010/main" val="191953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78F7-953A-317A-D132-8F7F3056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9F35-C2AC-C227-B8A0-7EFE9C64F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90" y="770513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What is CI/CD?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B7269-C46F-69A5-263D-8FCED9178808}"/>
              </a:ext>
            </a:extLst>
          </p:cNvPr>
          <p:cNvSpPr txBox="1"/>
          <p:nvPr/>
        </p:nvSpPr>
        <p:spPr>
          <a:xfrm>
            <a:off x="244047" y="1369380"/>
            <a:ext cx="11703905" cy="253491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000" dirty="0"/>
              <a:t>	</a:t>
            </a:r>
            <a:r>
              <a:rPr lang="en-GB" sz="2000" dirty="0"/>
              <a:t>CI/CD is a method to frequently deliver </a:t>
            </a:r>
            <a:r>
              <a:rPr lang="en-GB" sz="2000" dirty="0">
                <a:solidFill>
                  <a:srgbClr val="0075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apps</a:t>
            </a:r>
            <a:r>
              <a:rPr lang="en-GB" sz="2000" dirty="0"/>
              <a:t> to customers by introducing </a:t>
            </a:r>
            <a:r>
              <a:rPr lang="en-GB" sz="2000" dirty="0">
                <a:solidFill>
                  <a:srgbClr val="0075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automation</a:t>
            </a:r>
            <a:r>
              <a:rPr lang="en-GB" sz="2000" dirty="0"/>
              <a:t> into the stages of </a:t>
            </a:r>
            <a:r>
              <a:rPr lang="en-GB" sz="2000" dirty="0">
                <a:solidFill>
                  <a:srgbClr val="0075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 development</a:t>
            </a:r>
            <a:endParaRPr lang="en-GB" sz="2000" dirty="0">
              <a:solidFill>
                <a:srgbClr val="0075C0"/>
              </a:solidFill>
            </a:endParaRPr>
          </a:p>
          <a:p>
            <a:endParaRPr lang="en-GB" sz="2000" dirty="0"/>
          </a:p>
          <a:p>
            <a:r>
              <a:rPr lang="en-GB" sz="2000" dirty="0"/>
              <a:t>	The main concepts attributed to CI/CD are </a:t>
            </a:r>
            <a:r>
              <a:rPr lang="en-GB" sz="2000" dirty="0">
                <a:solidFill>
                  <a:srgbClr val="0075C0"/>
                </a:solidFill>
              </a:rPr>
              <a:t>continuous integration</a:t>
            </a:r>
            <a:r>
              <a:rPr lang="en-GB" sz="2000" dirty="0"/>
              <a:t>, </a:t>
            </a:r>
            <a:r>
              <a:rPr lang="en-GB" sz="2000" dirty="0">
                <a:solidFill>
                  <a:srgbClr val="0075C0"/>
                </a:solidFill>
              </a:rPr>
              <a:t>continuous delivery</a:t>
            </a:r>
            <a:r>
              <a:rPr lang="en-GB" sz="2000" dirty="0"/>
              <a:t>, and </a:t>
            </a:r>
            <a:r>
              <a:rPr lang="en-GB" sz="2000" dirty="0">
                <a:solidFill>
                  <a:srgbClr val="0075C0"/>
                </a:solidFill>
              </a:rPr>
              <a:t>continuous deployment</a:t>
            </a:r>
          </a:p>
          <a:p>
            <a:endParaRPr lang="en-GB" sz="2000" dirty="0"/>
          </a:p>
          <a:p>
            <a:r>
              <a:rPr lang="en-GB" sz="2000" dirty="0"/>
              <a:t>	CI/CD is a solution to the problems </a:t>
            </a:r>
            <a:r>
              <a:rPr lang="en-GB" sz="2000" dirty="0">
                <a:solidFill>
                  <a:srgbClr val="0075C0"/>
                </a:solidFill>
              </a:rPr>
              <a:t>integrating new code </a:t>
            </a:r>
            <a:r>
              <a:rPr lang="en-GB" sz="2000" dirty="0"/>
              <a:t>can cause for development and operations team</a:t>
            </a:r>
            <a:endParaRPr lang="en-RO" sz="1400" dirty="0"/>
          </a:p>
        </p:txBody>
      </p:sp>
      <p:pic>
        <p:nvPicPr>
          <p:cNvPr id="3" name="Picture 4" descr="CI/CD Flow">
            <a:extLst>
              <a:ext uri="{FF2B5EF4-FFF2-40B4-BE49-F238E27FC236}">
                <a16:creationId xmlns:a16="http://schemas.microsoft.com/office/drawing/2014/main" id="{56FDE638-EAD0-0FE8-75F7-55ABB2991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428" y="4189668"/>
            <a:ext cx="8817142" cy="166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853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B32F5-539C-AABC-2A87-40EE6699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evOps Periodic Table">
            <a:extLst>
              <a:ext uri="{FF2B5EF4-FFF2-40B4-BE49-F238E27FC236}">
                <a16:creationId xmlns:a16="http://schemas.microsoft.com/office/drawing/2014/main" id="{729EC9CF-E41A-72D1-AC37-C6B36E2A3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12192000" cy="684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06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E1E0-9B33-61D5-1107-1EBB3EB43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9639-C1E3-DA1E-05E1-758B4863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90" y="770513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Let’s code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E471DCF0-AA19-D13B-F363-0B027D20A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67930" y="1561690"/>
            <a:ext cx="6056139" cy="3734619"/>
          </a:xfrm>
        </p:spPr>
      </p:pic>
    </p:spTree>
    <p:extLst>
      <p:ext uri="{BB962C8B-B14F-4D97-AF65-F5344CB8AC3E}">
        <p14:creationId xmlns:p14="http://schemas.microsoft.com/office/powerpoint/2010/main" val="1111360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TSS Roboto">
      <a:majorFont>
        <a:latin typeface="Roboto Medium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1000" dirty="0" smtClean="0">
            <a:latin typeface="Roboto Light" panose="02000000000000000000" pitchFamily="2" charset="0"/>
            <a:ea typeface="Roboto Light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TSS template simple v01 2023 .potx" id="{291087DE-49C5-4F63-8C49-0913628F46B7}" vid="{70AC428F-BEED-44E7-BB71-7F1B8D9107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327160-3c29-4b32-9d12-d1bf3900ce19" xsi:nil="true"/>
    <lcf76f155ced4ddcb4097134ff3c332f xmlns="9fdbb4ac-57f0-4155-9258-15310c4b7c2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76DEA48D4D2148B77257000BB46D40" ma:contentTypeVersion="14" ma:contentTypeDescription="Create a new document." ma:contentTypeScope="" ma:versionID="9a9b8eeefed18b16d1f591022d1c4a0a">
  <xsd:schema xmlns:xsd="http://www.w3.org/2001/XMLSchema" xmlns:xs="http://www.w3.org/2001/XMLSchema" xmlns:p="http://schemas.microsoft.com/office/2006/metadata/properties" xmlns:ns2="9fdbb4ac-57f0-4155-9258-15310c4b7c2c" xmlns:ns3="f2327160-3c29-4b32-9d12-d1bf3900ce19" targetNamespace="http://schemas.microsoft.com/office/2006/metadata/properties" ma:root="true" ma:fieldsID="57e3e8a0ee7d57f5f622a22c4dbf388f" ns2:_="" ns3:_="">
    <xsd:import namespace="9fdbb4ac-57f0-4155-9258-15310c4b7c2c"/>
    <xsd:import namespace="f2327160-3c29-4b32-9d12-d1bf3900ce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bb4ac-57f0-4155-9258-15310c4b7c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040045a-424b-47e5-96a8-15817e74bf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327160-3c29-4b32-9d12-d1bf3900ce1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448d754-18b9-4bde-a7aa-1238c9d4a016}" ma:internalName="TaxCatchAll" ma:showField="CatchAllData" ma:web="f2327160-3c29-4b32-9d12-d1bf3900ce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D8D2B7-E63E-47E8-829B-111CFA3DF0BC}">
  <ds:schemaRefs>
    <ds:schemaRef ds:uri="9fdbb4ac-57f0-4155-9258-15310c4b7c2c"/>
    <ds:schemaRef ds:uri="f2327160-3c29-4b32-9d12-d1bf3900ce1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05CC669-0EDC-4C1E-8DAA-BB249DEB51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6A6C3E-FFE8-4483-9855-C138C5313D4D}">
  <ds:schemaRefs>
    <ds:schemaRef ds:uri="9fdbb4ac-57f0-4155-9258-15310c4b7c2c"/>
    <ds:schemaRef ds:uri="f2327160-3c29-4b32-9d12-d1bf3900ce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482</Words>
  <Application>Microsoft Office PowerPoint</Application>
  <PresentationFormat>Widescreen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Roboto</vt:lpstr>
      <vt:lpstr>Roboto Light</vt:lpstr>
      <vt:lpstr>Roboto Medium</vt:lpstr>
      <vt:lpstr>Office Theme</vt:lpstr>
      <vt:lpstr>Docker Continuous integration Continuous delivery</vt:lpstr>
      <vt:lpstr>What is docker?</vt:lpstr>
      <vt:lpstr>Terminology</vt:lpstr>
      <vt:lpstr>Docker commands with a basic image</vt:lpstr>
      <vt:lpstr>PowerPoint Presentation</vt:lpstr>
      <vt:lpstr>Docker compose</vt:lpstr>
      <vt:lpstr>PowerPoint Presentation</vt:lpstr>
      <vt:lpstr>PowerPoint Presentation</vt:lpstr>
      <vt:lpstr>What is CI/CD?</vt:lpstr>
      <vt:lpstr>PowerPoint Presentation</vt:lpstr>
      <vt:lpstr>Let’s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Zainea</dc:creator>
  <cp:lastModifiedBy>Bogdan David</cp:lastModifiedBy>
  <cp:revision>22</cp:revision>
  <dcterms:created xsi:type="dcterms:W3CDTF">2025-05-21T14:36:18Z</dcterms:created>
  <dcterms:modified xsi:type="dcterms:W3CDTF">2025-09-28T13:53:53Z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0x0101003576DEA48D4D2148B77257000BB46D40</vt:lpwstr>
  </property>
  <property fmtid="{D5CDD505-2E9C-101B-9397-08002B2CF9AE}" pid="3" name="MediaServiceImageTags">
    <vt:lpwstr/>
  </property>
</Properties>
</file>