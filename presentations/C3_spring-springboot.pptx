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</p:sldMasterIdLst>
  <p:notesMasterIdLst>
    <p:notesMasterId r:id="rId17"/>
  </p:notesMasterIdLst>
  <p:handoutMasterIdLst>
    <p:handoutMasterId r:id="rId18"/>
  </p:handoutMasterIdLst>
  <p:sldIdLst>
    <p:sldId id="257" r:id="rId5"/>
    <p:sldId id="375" r:id="rId6"/>
    <p:sldId id="400" r:id="rId7"/>
    <p:sldId id="401" r:id="rId8"/>
    <p:sldId id="402" r:id="rId9"/>
    <p:sldId id="403" r:id="rId10"/>
    <p:sldId id="404" r:id="rId11"/>
    <p:sldId id="381" r:id="rId12"/>
    <p:sldId id="405" r:id="rId13"/>
    <p:sldId id="406" r:id="rId14"/>
    <p:sldId id="407" r:id="rId15"/>
    <p:sldId id="40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0A42BE-D8A9-5553-988A-7442DE4A4080}" name="Andrei Rizea" initials="AR" userId="S::andrei.rizea@itsmartsystems.eu::717dec01-bfe8-423d-83a1-0cd626eacbc5" providerId="AD"/>
  <p188:author id="{6302D0CC-D211-AD5F-4BAF-849B5CD701C9}" name="Aurel Nica" initials="AN" userId="S::aurel.nica@itsmartsystems.eu::de53102f-bbc4-4232-88db-c95b7b8da84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5C0"/>
    <a:srgbClr val="0298E3"/>
    <a:srgbClr val="00A0EC"/>
    <a:srgbClr val="194EA5"/>
    <a:srgbClr val="1D48A1"/>
    <a:srgbClr val="2B3595"/>
    <a:srgbClr val="F0F0F0"/>
    <a:srgbClr val="0C61B1"/>
    <a:srgbClr val="BEE3FA"/>
    <a:srgbClr val="03A2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0D4EAE-D426-864C-AAE2-6A0FD73A0948}" v="186" dt="2025-07-25T07:49:37.6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D56BA5-B659-006C-29E2-FC75A17D46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B57B1-AAC1-97DE-E2A6-1B61871D72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F053B8-80AE-4DAF-8C37-151CAE98F266}" type="datetimeFigureOut">
              <a:rPr lang="en-US" smtClean="0"/>
              <a:t>27/09/2025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5149A-136C-319A-BB73-82FDE2EBE8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CD9D0-8A85-5793-F877-422D888733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0CEB6-53BA-4E15-89ED-932D829F0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11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22FDA-22DD-44E3-AF8C-2DE3156E25CB}" type="datetimeFigureOut">
              <a:rPr lang="en-US" smtClean="0"/>
              <a:t>27/09/2025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32559-C416-46EC-BE00-2A3C4502C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8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77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69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D9910-BD81-66F5-6DA4-BAC6E3786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0749D-FD8D-DEC0-4286-8C44A3DE0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7CDFE-1E7F-0FE0-B104-6ED6BA6EF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F28DE-552A-772C-A490-ECCED9041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16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4FA7D-2FBF-C118-799C-8887AFC9F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264BC-641A-389E-7750-961897923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3B3FE-956A-DB87-D130-9E66F35F5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2F356-1C24-9A67-769D-DB41AF4F7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55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BAA48-9366-C7CF-7FE0-165A6D088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16B9B-8BA1-AF23-1728-1E6E25AAE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C00DF-8AD9-9C9C-8C74-B160369E3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97013-5F63-0379-316E-59BB0128F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8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1C8A1-A0F6-C809-1AB7-F90F8A6C9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EE385-9FC0-D157-DDB4-545745C57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2AF42-3D88-E7C2-86E8-7EBC94416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FBE60-EDDD-F5D6-F3AD-43B4706FC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45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13796-9E17-F93C-F3E3-C395D4CB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C3DD7-5030-936F-1005-76B3B27E5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435145-8C2A-719A-FDED-66FB2FAFA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57C35-C8D3-A5FF-429C-C4DA4DDE4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467DA-F195-AA12-0355-BD3C59FDE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31283-A6CF-6259-D549-0B809373E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CFBD9-6F63-E7C4-EEE1-3AA47ABB8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12C3B-9C8A-2B0D-C1F0-15A32568D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77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68E05-4B16-AE05-6057-ABEB76AE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96873-5FDA-D947-D15D-93C0B15A5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3918D-4AD3-7B26-B7BF-79317E8DC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FD635-8727-1F6F-F46B-48B43D684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44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9FDF4-BBBA-A8CA-7E94-AB7D9B1C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49B2E-4D1F-9D93-636C-4EE7F44FF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70D6C-5354-6E97-14C9-58AE4BD35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939A2-168C-FA5C-4AFA-0ABF9B1B9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65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0FB9C-A8D2-3D22-5752-2B33187A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5E10EC-F8B9-C023-F904-787E21E34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5CA59-AF66-9DC0-3994-15F438694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538E7-2C8C-6320-A1A7-EE80D9E26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311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BA8FC-607D-9F4D-BC16-66E885D0E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363DE-1B89-B1ED-F91F-BFC632C34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430C7-552A-9C09-975B-3C474A833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F8935-F8A1-93EC-0511-9DD1B44799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32559-C416-46EC-BE00-2A3C4502CB5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7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94ACE59-8E1F-F472-4030-C7DAAB70895A}"/>
              </a:ext>
            </a:extLst>
          </p:cNvPr>
          <p:cNvSpPr/>
          <p:nvPr userDrawn="1"/>
        </p:nvSpPr>
        <p:spPr>
          <a:xfrm>
            <a:off x="5289392" y="261232"/>
            <a:ext cx="6335533" cy="6335533"/>
          </a:xfrm>
          <a:prstGeom prst="ellipse">
            <a:avLst/>
          </a:prstGeom>
          <a:gradFill flip="none" rotWithShape="1">
            <a:gsLst>
              <a:gs pos="34000">
                <a:srgbClr val="0588D4"/>
              </a:gs>
              <a:gs pos="0">
                <a:srgbClr val="0298E3"/>
              </a:gs>
              <a:gs pos="75000">
                <a:srgbClr val="0C61B1"/>
              </a:gs>
              <a:gs pos="100000">
                <a:srgbClr val="2B359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138D1A-C3A6-EC85-C434-F52EAC89C0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5360" y="4000501"/>
            <a:ext cx="2537460" cy="1318259"/>
          </a:xfrm>
        </p:spPr>
        <p:txBody>
          <a:bodyPr anchor="t">
            <a:normAutofit/>
          </a:bodyPr>
          <a:lstStyle>
            <a:lvl1pPr algn="l">
              <a:lnSpc>
                <a:spcPts val="3200"/>
              </a:lnSpc>
              <a:defRPr sz="3200">
                <a:latin typeface="+mn-lt"/>
              </a:defRPr>
            </a:lvl1pPr>
          </a:lstStyle>
          <a:p>
            <a:r>
              <a:rPr lang="en-GB"/>
              <a:t>Your Gorgeous Title Here</a:t>
            </a:r>
            <a:endParaRPr lang="ro-RO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0D7A55B-8097-49A8-C023-C3A35D8924B0}"/>
              </a:ext>
            </a:extLst>
          </p:cNvPr>
          <p:cNvSpPr/>
          <p:nvPr userDrawn="1"/>
        </p:nvSpPr>
        <p:spPr>
          <a:xfrm>
            <a:off x="6247821" y="838199"/>
            <a:ext cx="5181600" cy="5181600"/>
          </a:xfrm>
          <a:prstGeom prst="ellipse">
            <a:avLst/>
          </a:prstGeom>
          <a:blipFill>
            <a:blip r:embed="rId2"/>
            <a:stretch>
              <a:fillRect l="-33529" t="-38896" r="-71765" b="-326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79AA82C-0D39-A067-4DAD-1439FCC5A0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25" y="1807784"/>
            <a:ext cx="3629892" cy="16212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227FB2-8D30-96D8-C335-0CF7B49E0866}"/>
              </a:ext>
            </a:extLst>
          </p:cNvPr>
          <p:cNvCxnSpPr/>
          <p:nvPr userDrawn="1"/>
        </p:nvCxnSpPr>
        <p:spPr>
          <a:xfrm>
            <a:off x="762579" y="3428999"/>
            <a:ext cx="2395220" cy="0"/>
          </a:xfrm>
          <a:prstGeom prst="line">
            <a:avLst/>
          </a:prstGeom>
          <a:ln w="12700" cap="rnd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520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4734-831F-1C4C-BBEB-904AFFD9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1"/>
            <a:ext cx="11134184" cy="593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0FE7-4EAC-254E-AA2E-AF380D16B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1" y="2647665"/>
            <a:ext cx="11134183" cy="3118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0F77EE-AB20-E1FB-B6DD-5C8732A3AF93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32ABB5-A77B-38C9-3274-C8B5D607DC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98E3F4-E66B-53FB-2956-FE47C7EAB4B6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4">
            <a:extLst>
              <a:ext uri="{FF2B5EF4-FFF2-40B4-BE49-F238E27FC236}">
                <a16:creationId xmlns:a16="http://schemas.microsoft.com/office/drawing/2014/main" id="{F52CC21A-4009-26C2-CC7A-8DD283C4A46F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4E470B-97A0-65C5-89A4-E21879627711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6C37A4-6F08-FC5B-79D2-9EC3A2678BC3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76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C419-19B1-8245-9C13-B60B7D2AC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440" y="1082041"/>
            <a:ext cx="11239500" cy="22860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51D30-1DCD-DF40-A91B-0E10E4523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40" y="3602037"/>
            <a:ext cx="11239500" cy="217392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360E3A-E40C-784C-E6F0-55D884C93E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8676"/>
            <a:ext cx="1657743" cy="74039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26B2F1-4681-A032-738F-2B89F3431213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4">
            <a:extLst>
              <a:ext uri="{FF2B5EF4-FFF2-40B4-BE49-F238E27FC236}">
                <a16:creationId xmlns:a16="http://schemas.microsoft.com/office/drawing/2014/main" id="{12BC632E-00A9-BFF4-A5EC-44C20BD04896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0DF107-382E-E66E-D301-7E398D07D1D5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36CF4D-7988-B175-AD7C-172C8321A7AD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ACAA882-0CF1-A1EC-3677-327997B263C3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6387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FEC7-9CEB-4044-BAD0-AF9D151EE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C66E-36AE-7443-BF7C-ABB1605FE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60" y="2647666"/>
            <a:ext cx="5479462" cy="3118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DCB9B-0CE6-2345-989F-A396873D8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928" y="2647666"/>
            <a:ext cx="5386316" cy="31185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F95081E-F8EA-229B-0ABC-78AF6490EE4F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4FE35F5-735A-68CA-87C8-5FD8B35A23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2E172F-42B0-93D1-FE97-FE159F2C3AE0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3EEB3BA7-9DD4-9867-ED03-7CA2EF56BC2E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6F6DD-3224-8A82-50D7-E859FF1325CC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5635EA-0EBE-DB3C-B3C1-5901943D0D70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9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31E4-8B39-4345-A787-4DAF9F35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1" y="1091821"/>
            <a:ext cx="11134980" cy="598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609A7-8D77-754D-9F49-7F656D81D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60" y="1690687"/>
            <a:ext cx="5478779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578DF-6A62-6E45-BE3E-26302F4D4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" y="2644139"/>
            <a:ext cx="5478779" cy="3122039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F3CC5-FE37-7F4F-833A-E69E5774C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3162" y="1690687"/>
            <a:ext cx="5385632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6807D-A720-F241-9BB2-F122E0191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3162" y="2644139"/>
            <a:ext cx="5385632" cy="312204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5A9E9F2-3D91-499D-E9E4-52170B2ABD45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AC8C29A-70A6-F72E-B19C-BB2C3D147E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459290-3797-AF94-5023-42378B4883D5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4">
            <a:extLst>
              <a:ext uri="{FF2B5EF4-FFF2-40B4-BE49-F238E27FC236}">
                <a16:creationId xmlns:a16="http://schemas.microsoft.com/office/drawing/2014/main" id="{3C0047E0-018D-E768-5225-D653CC9F984B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6FAAFA-90B6-4AC3-DAC8-F75E9B1E5EF8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3B92D3-9E21-F538-7E6B-F4D197AE1C12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324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979A-6F45-3E4A-A60A-EFFA3826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7280"/>
            <a:ext cx="5486400" cy="9601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547A6-5743-E643-B453-E57FD81B4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160" y="1097280"/>
            <a:ext cx="5379720" cy="4671060"/>
          </a:xfrm>
        </p:spPr>
        <p:txBody>
          <a:bodyPr/>
          <a:lstStyle>
            <a:lvl1pPr marL="0" indent="0">
              <a:buFontTx/>
              <a:buNone/>
              <a:defRPr sz="3200"/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95366-C54A-DC4F-BB94-E48789E2C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" y="2110740"/>
            <a:ext cx="5486400" cy="36499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DCFD7E-9D42-62AC-A809-1AAE7C4FD245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9B3F6E6-3640-7AFA-9A62-999FC8A52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D2DA7D-5D4C-F303-98F2-E86BD3625EF1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9AAF13FD-F910-DF5B-7ED1-4C7B3E9592FC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747E5C-F5AC-5E8C-AE46-E40BF29A9F3A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F38CED-567C-4A8E-F2C1-3FC6D554A9FC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53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A0D6-847E-0446-A7EE-29C6004BA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987424"/>
            <a:ext cx="4366260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847C8B-D78A-2D4F-A119-C27F10664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528752" cy="47885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707EF-1848-FF46-882C-FD33F01F0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" y="2057400"/>
            <a:ext cx="4366260" cy="37185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75D1F7-AC41-546B-3080-5C106F5F1B9C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E816371-8451-D6C0-AE90-BCFECC031D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C209DD-08A6-166A-C4AB-18FF3C93C8BD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4">
            <a:extLst>
              <a:ext uri="{FF2B5EF4-FFF2-40B4-BE49-F238E27FC236}">
                <a16:creationId xmlns:a16="http://schemas.microsoft.com/office/drawing/2014/main" id="{1B5967EF-DB7C-26FA-AA47-96AADBFCC74C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11F4F1-C195-307A-B725-01E9DF2B3B27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FBED8F-8A74-BF47-3016-D17DAE49D9AD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55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49E18-793C-2B51-A43A-5E301EDC3D21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AC1A3F1-04CA-3BC4-F9A6-AB4FA7E2D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224" y="5864688"/>
            <a:ext cx="1657743" cy="740397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A8AF4F-6C14-B714-A9C6-AA48A8B97600}"/>
              </a:ext>
            </a:extLst>
          </p:cNvPr>
          <p:cNvCxnSpPr/>
          <p:nvPr userDrawn="1"/>
        </p:nvCxnSpPr>
        <p:spPr>
          <a:xfrm flipV="1">
            <a:off x="1906176" y="6238875"/>
            <a:ext cx="0" cy="200025"/>
          </a:xfrm>
          <a:prstGeom prst="line">
            <a:avLst/>
          </a:prstGeom>
          <a:ln w="285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4">
            <a:extLst>
              <a:ext uri="{FF2B5EF4-FFF2-40B4-BE49-F238E27FC236}">
                <a16:creationId xmlns:a16="http://schemas.microsoft.com/office/drawing/2014/main" id="{A11B5089-D054-255D-5754-AE2554C521D8}"/>
              </a:ext>
            </a:extLst>
          </p:cNvPr>
          <p:cNvSpPr txBox="1">
            <a:spLocks/>
          </p:cNvSpPr>
          <p:nvPr userDrawn="1"/>
        </p:nvSpPr>
        <p:spPr>
          <a:xfrm>
            <a:off x="2080889" y="6170707"/>
            <a:ext cx="1682731" cy="3363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o-RO" sz="1400"/>
              <a:t>itsmartsystems.eu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C17EC-194A-C300-96F8-0490E2E322E6}"/>
              </a:ext>
            </a:extLst>
          </p:cNvPr>
          <p:cNvSpPr txBox="1"/>
          <p:nvPr userDrawn="1"/>
        </p:nvSpPr>
        <p:spPr>
          <a:xfrm>
            <a:off x="9172576" y="6276234"/>
            <a:ext cx="2743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900">
                <a:solidFill>
                  <a:srgbClr val="9D9D9D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All Rights Reserved </a:t>
            </a:r>
            <a:r>
              <a:rPr lang="en-US" sz="900">
                <a:solidFill>
                  <a:srgbClr val="9D9D9D"/>
                </a:solidFill>
              </a:rPr>
              <a:t>©</a:t>
            </a:r>
            <a:r>
              <a:rPr lang="ro-RO" sz="900">
                <a:solidFill>
                  <a:srgbClr val="9D9D9D"/>
                </a:solidFill>
              </a:rPr>
              <a:t> 2025 IT Smart Systems</a:t>
            </a:r>
            <a:endParaRPr lang="en-US" sz="900">
              <a:solidFill>
                <a:srgbClr val="9D9D9D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67F66A-A3C2-CD12-4A95-93BC290565C6}"/>
              </a:ext>
            </a:extLst>
          </p:cNvPr>
          <p:cNvCxnSpPr>
            <a:cxnSpLocks/>
          </p:cNvCxnSpPr>
          <p:nvPr userDrawn="1"/>
        </p:nvCxnSpPr>
        <p:spPr>
          <a:xfrm>
            <a:off x="576689" y="561901"/>
            <a:ext cx="442486" cy="0"/>
          </a:xfrm>
          <a:prstGeom prst="line">
            <a:avLst/>
          </a:prstGeom>
          <a:ln w="38100" cap="rnd">
            <a:solidFill>
              <a:srgbClr val="194E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45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08BA-224D-554D-8E3F-776806D9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0"/>
            <a:ext cx="11134184" cy="598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A8B1F5F-8B46-975E-4688-02E3964CD08A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6784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Fix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8138D1A-C3A6-EC85-C434-F52EAC89C05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9635" y="1627348"/>
            <a:ext cx="6939916" cy="2336481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baseline="0">
                <a:solidFill>
                  <a:schemeClr val="tx1"/>
                </a:solidFill>
                <a:latin typeface="Roboto Medium" panose="02000000000000000000" pitchFamily="2" charset="0"/>
              </a:defRPr>
            </a:lvl1pPr>
          </a:lstStyle>
          <a:p>
            <a:r>
              <a:rPr lang="en-GB"/>
              <a:t>Your Gorgeous Title</a:t>
            </a:r>
            <a:endParaRPr lang="ro-RO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3ABFB0-D892-DB35-B947-DC66C1E2D6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9635" y="4037174"/>
            <a:ext cx="6940550" cy="506413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7937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E4734-831F-1C4C-BBEB-904AFFD9D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1"/>
            <a:ext cx="11134184" cy="59368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0FE7-4EAC-254E-AA2E-AF380D16B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1" y="2647665"/>
            <a:ext cx="11134183" cy="31185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0F77EE-AB20-E1FB-B6DD-5C8732A3AF93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18566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FEC7-9CEB-4044-BAD0-AF9D151EE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1C66E-36AE-7443-BF7C-ABB1605FE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60" y="2647666"/>
            <a:ext cx="5479462" cy="31185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DCB9B-0CE6-2345-989F-A396873D8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928" y="2647666"/>
            <a:ext cx="5386316" cy="31185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F95081E-F8EA-229B-0ABC-78AF6490EE4F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3898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31E4-8B39-4345-A787-4DAF9F35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1" y="1091821"/>
            <a:ext cx="11134980" cy="598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609A7-8D77-754D-9F49-7F656D81D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60" y="1690687"/>
            <a:ext cx="5478779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578DF-6A62-6E45-BE3E-26302F4D4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" y="2644139"/>
            <a:ext cx="5478779" cy="3122039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F3CC5-FE37-7F4F-833A-E69E5774C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3162" y="1690687"/>
            <a:ext cx="5385632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6807D-A720-F241-9BB2-F122E0191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3162" y="2644139"/>
            <a:ext cx="5385632" cy="312204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5A9E9F2-3D91-499D-E9E4-52170B2ABD45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87002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979A-6F45-3E4A-A60A-EFFA3826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7280"/>
            <a:ext cx="5486400" cy="9601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547A6-5743-E643-B453-E57FD81B4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160" y="1097280"/>
            <a:ext cx="5379720" cy="4671060"/>
          </a:xfrm>
        </p:spPr>
        <p:txBody>
          <a:bodyPr/>
          <a:lstStyle>
            <a:lvl1pPr marL="0" indent="0">
              <a:buFontTx/>
              <a:buNone/>
              <a:defRPr sz="3200"/>
            </a:lvl1pPr>
            <a:lvl2pPr marL="457200" indent="0">
              <a:buFontTx/>
              <a:buNone/>
              <a:defRPr sz="2800"/>
            </a:lvl2pPr>
            <a:lvl3pPr marL="914400" indent="0">
              <a:buFontTx/>
              <a:buNone/>
              <a:defRPr sz="24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95366-C54A-DC4F-BB94-E48789E2C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" y="2110740"/>
            <a:ext cx="5486400" cy="36499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6DCFD7E-9D42-62AC-A809-1AAE7C4FD245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07836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A0D6-847E-0446-A7EE-29C6004BA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987424"/>
            <a:ext cx="4366260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847C8B-D78A-2D4F-A119-C27F10664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528752" cy="47885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2707EF-1848-FF46-882C-FD33F01F0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440" y="2057400"/>
            <a:ext cx="4366260" cy="371855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75D1F7-AC41-546B-3080-5C106F5F1B9C}"/>
              </a:ext>
            </a:extLst>
          </p:cNvPr>
          <p:cNvSpPr txBox="1">
            <a:spLocks/>
          </p:cNvSpPr>
          <p:nvPr userDrawn="1"/>
        </p:nvSpPr>
        <p:spPr>
          <a:xfrm>
            <a:off x="8977724" y="463018"/>
            <a:ext cx="2743200" cy="164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o-RO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698B14-68FA-413A-BC50-763A65A75409}" type="slidenum">
              <a:rPr lang="ro-RO" sz="1000" smtClean="0">
                <a:solidFill>
                  <a:schemeClr val="tx1"/>
                </a:solidFill>
                <a:latin typeface="+mj-lt"/>
              </a:rPr>
              <a:pPr/>
              <a:t>‹#›</a:t>
            </a:fld>
            <a:endParaRPr lang="ro-RO" sz="10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19726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08BA-224D-554D-8E3F-776806D9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0"/>
            <a:ext cx="11134184" cy="598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3328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75A698-B3EA-814E-862F-371679D32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1091820"/>
            <a:ext cx="11134184" cy="5988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F3A9-4B98-A046-8F42-C76F0F9EA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61" y="2647665"/>
            <a:ext cx="11134183" cy="3118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3661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69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425E-0EAC-F8AB-539C-E284904F4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362" y="3807980"/>
            <a:ext cx="4926677" cy="1318259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ea typeface="Roboto Medium"/>
                <a:cs typeface="Roboto Medium"/>
              </a:rPr>
              <a:t>Spring &amp; Spring Boot</a:t>
            </a:r>
            <a:endParaRPr lang="en-US" b="1" dirty="0">
              <a:solidFill>
                <a:srgbClr val="194EA5"/>
              </a:solidFill>
              <a:latin typeface="+mj-lt"/>
              <a:ea typeface="Roboto Medium"/>
              <a:cs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22363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6B29-58F8-1DFF-F2AF-58937F510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What is Spring?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3887B-4610-6155-7BAD-9DB270B0C8E1}"/>
              </a:ext>
            </a:extLst>
          </p:cNvPr>
          <p:cNvSpPr txBox="1"/>
          <p:nvPr/>
        </p:nvSpPr>
        <p:spPr>
          <a:xfrm>
            <a:off x="755650" y="1690687"/>
            <a:ext cx="110807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RO" sz="1800" dirty="0"/>
              <a:t>Spring is a lightweight and comprehensive framework for building java enterprise-level applications.</a:t>
            </a:r>
          </a:p>
          <a:p>
            <a:pPr marL="342900" indent="-342900">
              <a:buFont typeface="Wingdings" pitchFamily="2" charset="2"/>
              <a:buChar char="Ø"/>
            </a:pPr>
            <a:endParaRPr lang="en-RO" sz="1800" dirty="0"/>
          </a:p>
          <a:p>
            <a:pPr marL="342900" indent="-342900">
              <a:buFont typeface="Wingdings" pitchFamily="2" charset="2"/>
              <a:buChar char="Ø"/>
            </a:pPr>
            <a:endParaRPr lang="en-RO" sz="1800" dirty="0"/>
          </a:p>
          <a:p>
            <a:pPr marL="342900" indent="-342900">
              <a:buFont typeface="Wingdings" pitchFamily="2" charset="2"/>
              <a:buChar char="Ø"/>
            </a:pPr>
            <a:endParaRPr lang="en-RO" sz="18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RO" sz="1800" dirty="0"/>
              <a:t>Spring was created by Rod Johnson in 2002 as an alternative to the heavyweight XML-centric J2EE</a:t>
            </a:r>
          </a:p>
          <a:p>
            <a:pPr marL="342900" indent="-342900">
              <a:buFont typeface="Wingdings" pitchFamily="2" charset="2"/>
              <a:buChar char="Ø"/>
            </a:pPr>
            <a:endParaRPr lang="en-RO" sz="1800" dirty="0"/>
          </a:p>
          <a:p>
            <a:pPr marL="342900" indent="-342900">
              <a:buFont typeface="Wingdings" pitchFamily="2" charset="2"/>
              <a:buChar char="Ø"/>
            </a:pPr>
            <a:endParaRPr lang="en-RO" sz="1800" dirty="0"/>
          </a:p>
          <a:p>
            <a:pPr marL="342900" indent="-342900">
              <a:buFont typeface="Wingdings" pitchFamily="2" charset="2"/>
              <a:buChar char="Ø"/>
            </a:pPr>
            <a:endParaRPr lang="en-RO" sz="18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RO" sz="1800" dirty="0"/>
              <a:t>The core components of the Spring Framework include the IoC container, dependency injection, aspect-oriented programming (AOP), data access, transaction management etc.</a:t>
            </a:r>
          </a:p>
          <a:p>
            <a:pPr marL="342900" indent="-342900">
              <a:buFont typeface="Wingdings" pitchFamily="2" charset="2"/>
              <a:buChar char="Ø"/>
            </a:pPr>
            <a:endParaRPr lang="en-RO" sz="1800" dirty="0"/>
          </a:p>
          <a:p>
            <a:pPr marL="342900" indent="-342900">
              <a:buFont typeface="Wingdings" pitchFamily="2" charset="2"/>
              <a:buChar char="Ø"/>
            </a:pPr>
            <a:endParaRPr lang="en-RO" sz="1800" dirty="0"/>
          </a:p>
          <a:p>
            <a:pPr marL="342900" indent="-342900">
              <a:buFont typeface="Wingdings" pitchFamily="2" charset="2"/>
              <a:buChar char="Ø"/>
            </a:pPr>
            <a:endParaRPr lang="en-RO" sz="18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RO" sz="1800" dirty="0"/>
              <a:t>It’s a flexibile framework, being suitable for a large range of applications, from small microservices to large-scale enterprise systems</a:t>
            </a:r>
          </a:p>
        </p:txBody>
      </p:sp>
    </p:spTree>
    <p:extLst>
      <p:ext uri="{BB962C8B-B14F-4D97-AF65-F5344CB8AC3E}">
        <p14:creationId xmlns:p14="http://schemas.microsoft.com/office/powerpoint/2010/main" val="2108998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3503F-7B6B-CD12-506C-96D88C0D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6A0BE-4A8E-FDDF-1EF7-2B44D0C7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Spring – Key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5F5C8-6D9F-D9B9-952E-F42E3567282C}"/>
              </a:ext>
            </a:extLst>
          </p:cNvPr>
          <p:cNvSpPr txBox="1"/>
          <p:nvPr/>
        </p:nvSpPr>
        <p:spPr>
          <a:xfrm>
            <a:off x="755650" y="1690687"/>
            <a:ext cx="110807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b="1" dirty="0"/>
              <a:t>Inversion of Control (IOC) Container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b="1" dirty="0"/>
              <a:t>Dependency Injection (DI)</a:t>
            </a:r>
          </a:p>
          <a:p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Aspect-Oriented Programming (AOP)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Spring MVC (web dev)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Transaction Management (data layer)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Spring Security (authentication and authorization)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Spring Boot (rapid application development)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Testing Support</a:t>
            </a:r>
          </a:p>
        </p:txBody>
      </p:sp>
    </p:spTree>
    <p:extLst>
      <p:ext uri="{BB962C8B-B14F-4D97-AF65-F5344CB8AC3E}">
        <p14:creationId xmlns:p14="http://schemas.microsoft.com/office/powerpoint/2010/main" val="3474542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A7C72-031E-9213-1458-D515F45F6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DEB2-E413-26DC-E0ED-618F82976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Inversion of Control (IoC)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64E65-639D-F7F2-4254-C04510966AB1}"/>
              </a:ext>
            </a:extLst>
          </p:cNvPr>
          <p:cNvSpPr txBox="1"/>
          <p:nvPr/>
        </p:nvSpPr>
        <p:spPr>
          <a:xfrm>
            <a:off x="755650" y="1690687"/>
            <a:ext cx="110807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RO" dirty="0"/>
              <a:t>Design principle where the control of object creation and lifecycle is inverted or delegated to an external container or framework</a:t>
            </a:r>
          </a:p>
          <a:p>
            <a:pPr marL="342900" indent="-342900">
              <a:buFont typeface="Wingdings" pitchFamily="2" charset="2"/>
              <a:buChar char="§"/>
            </a:pPr>
            <a:endParaRPr lang="en-RO" dirty="0"/>
          </a:p>
          <a:p>
            <a:pPr marL="342900" indent="-342900">
              <a:buFont typeface="Wingdings" pitchFamily="2" charset="2"/>
              <a:buChar char="§"/>
            </a:pPr>
            <a:r>
              <a:rPr lang="en-RO" dirty="0"/>
              <a:t>In traditional programming, the application code is responsible for creating and managing objects, resulting in tight coupling and decreased flexibility</a:t>
            </a:r>
          </a:p>
          <a:p>
            <a:pPr marL="342900" indent="-342900">
              <a:buFont typeface="Wingdings" pitchFamily="2" charset="2"/>
              <a:buChar char="§"/>
            </a:pPr>
            <a:endParaRPr lang="en-RO" dirty="0"/>
          </a:p>
          <a:p>
            <a:pPr marL="342900" indent="-342900">
              <a:buFont typeface="Wingdings" pitchFamily="2" charset="2"/>
              <a:buChar char="§"/>
            </a:pPr>
            <a:r>
              <a:rPr lang="en-RO" dirty="0"/>
              <a:t>IoC shifts the respons</a:t>
            </a:r>
            <a:r>
              <a:rPr lang="en-GB" dirty="0" err="1"/>
              <a:t>i</a:t>
            </a:r>
            <a:r>
              <a:rPr lang="en-RO" dirty="0"/>
              <a:t>bility of object creation and management to a container or framework, promoting loose coupling and modular design</a:t>
            </a:r>
          </a:p>
          <a:p>
            <a:pPr marL="342900" indent="-342900">
              <a:buFont typeface="Wingdings" pitchFamily="2" charset="2"/>
              <a:buChar char="§"/>
            </a:pPr>
            <a:endParaRPr lang="en-RO" dirty="0"/>
          </a:p>
          <a:p>
            <a:pPr marL="342900" indent="-342900">
              <a:buFont typeface="Wingdings" pitchFamily="2" charset="2"/>
              <a:buChar char="§"/>
            </a:pPr>
            <a:r>
              <a:rPr lang="en-RO" dirty="0"/>
              <a:t>Removes dependency on concrete implementations and allows dependencies to be injected at runtime</a:t>
            </a:r>
          </a:p>
          <a:p>
            <a:pPr marL="342900" indent="-342900">
              <a:buFont typeface="Wingdings" pitchFamily="2" charset="2"/>
              <a:buChar char="§"/>
            </a:pPr>
            <a:endParaRPr lang="en-RO" dirty="0"/>
          </a:p>
          <a:p>
            <a:pPr marL="342900" indent="-342900">
              <a:buFont typeface="Wingdings" pitchFamily="2" charset="2"/>
              <a:buChar char="§"/>
            </a:pPr>
            <a:r>
              <a:rPr lang="en-RO" dirty="0"/>
              <a:t>IoC facilitates modular design by separating the creation and configuration of objects, making it easier to replace or extend individual components</a:t>
            </a:r>
          </a:p>
        </p:txBody>
      </p:sp>
    </p:spTree>
    <p:extLst>
      <p:ext uri="{BB962C8B-B14F-4D97-AF65-F5344CB8AC3E}">
        <p14:creationId xmlns:p14="http://schemas.microsoft.com/office/powerpoint/2010/main" val="2899035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2C51C-DB0E-CA1B-C87C-25E08C4E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D1B20-B55F-9261-7A1A-EA39FDF9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Dependency injection (DI)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7CC98-A707-D5B5-0535-7AA4135D9552}"/>
              </a:ext>
            </a:extLst>
          </p:cNvPr>
          <p:cNvSpPr txBox="1"/>
          <p:nvPr/>
        </p:nvSpPr>
        <p:spPr>
          <a:xfrm>
            <a:off x="755650" y="1690687"/>
            <a:ext cx="110807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Is a design pattern and key component of the IoC principle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DI involves injecting dependencies into a component from an external source, rather than having the component create or manage its dependencies internally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In Spring, DI is achieved through multiple mechanisms like constructor injection, setter injection and field injection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Promotes loose coupling between components by removing direct dependencies on concrete implementations. Components only depend on abstractions, making them more flexible and reusable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Spring supports both XML-based and annotation-based configuration for defining beans and their dependencies</a:t>
            </a:r>
          </a:p>
        </p:txBody>
      </p:sp>
    </p:spTree>
    <p:extLst>
      <p:ext uri="{BB962C8B-B14F-4D97-AF65-F5344CB8AC3E}">
        <p14:creationId xmlns:p14="http://schemas.microsoft.com/office/powerpoint/2010/main" val="2246072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568CE-46C1-CC34-D131-FCD77333A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0221-4649-C945-E2CA-93E06546A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Example Traditional vs IoC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AFE0D-0BA8-1B89-135F-C42BFAE2EA3A}"/>
              </a:ext>
            </a:extLst>
          </p:cNvPr>
          <p:cNvSpPr txBox="1"/>
          <p:nvPr/>
        </p:nvSpPr>
        <p:spPr>
          <a:xfrm>
            <a:off x="755650" y="1690687"/>
            <a:ext cx="57277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RO" dirty="0"/>
              <a:t>In traditional programming approach, the “UserService” class directly creates its own dependency leading to tight coupling between classes</a:t>
            </a:r>
          </a:p>
          <a:p>
            <a:pPr>
              <a:buFont typeface="Arial" panose="020B0604020202020204" pitchFamily="34" charset="0"/>
              <a:buChar char="•"/>
            </a:pPr>
            <a:endParaRPr lang="en-RO" dirty="0"/>
          </a:p>
          <a:p>
            <a:pPr>
              <a:buFont typeface="Arial" panose="020B0604020202020204" pitchFamily="34" charset="0"/>
              <a:buChar char="•"/>
            </a:pPr>
            <a:r>
              <a:rPr lang="en-RO" dirty="0"/>
              <a:t>In Spring, the class receive its dependency via constructor injection, promoting loose coupling and making our service more flexible</a:t>
            </a:r>
          </a:p>
          <a:p>
            <a:pPr>
              <a:buFont typeface="Arial" panose="020B0604020202020204" pitchFamily="34" charset="0"/>
              <a:buChar char="•"/>
            </a:pPr>
            <a:endParaRPr lang="en-RO" dirty="0"/>
          </a:p>
          <a:p>
            <a:pPr>
              <a:buFont typeface="Arial" panose="020B0604020202020204" pitchFamily="34" charset="0"/>
              <a:buChar char="•"/>
            </a:pPr>
            <a:r>
              <a:rPr lang="en-RO" dirty="0"/>
              <a:t>Also, constructor injection is the preffered method in Spring for injecting dependencies because it ensures the dependencies are provided at object creation time, promoting better encapsulation and immutability.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B5AB25-60B7-02DD-E4FA-08DC797B8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148" y="575764"/>
            <a:ext cx="3678149" cy="3145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AD5013-4041-DCC8-5054-1F4D5AF3E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184" y="3861928"/>
            <a:ext cx="3700076" cy="235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55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566EB-65D4-15A5-DC5F-AE559A601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CBC3D-D544-ACBE-C1A0-231179995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98" y="61557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Common annotations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097B0-CB59-6444-B618-36C1F55802B6}"/>
              </a:ext>
            </a:extLst>
          </p:cNvPr>
          <p:cNvSpPr txBox="1"/>
          <p:nvPr/>
        </p:nvSpPr>
        <p:spPr>
          <a:xfrm>
            <a:off x="755650" y="1690687"/>
            <a:ext cx="11080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RO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E33DB3E-1C67-AA9B-4EF1-036140519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677389"/>
              </p:ext>
            </p:extLst>
          </p:nvPr>
        </p:nvGraphicFramePr>
        <p:xfrm>
          <a:off x="525098" y="1145103"/>
          <a:ext cx="11311302" cy="5672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231">
                  <a:extLst>
                    <a:ext uri="{9D8B030D-6E8A-4147-A177-3AD203B41FA5}">
                      <a16:colId xmlns:a16="http://schemas.microsoft.com/office/drawing/2014/main" val="1466918475"/>
                    </a:ext>
                  </a:extLst>
                </a:gridCol>
                <a:gridCol w="9273071">
                  <a:extLst>
                    <a:ext uri="{9D8B030D-6E8A-4147-A177-3AD203B41FA5}">
                      <a16:colId xmlns:a16="http://schemas.microsoft.com/office/drawing/2014/main" val="1061524203"/>
                    </a:ext>
                  </a:extLst>
                </a:gridCol>
              </a:tblGrid>
              <a:tr h="310564">
                <a:tc>
                  <a:txBody>
                    <a:bodyPr/>
                    <a:lstStyle/>
                    <a:p>
                      <a:r>
                        <a:rPr lang="en-US" dirty="0"/>
                        <a:t>Annotations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794329"/>
                  </a:ext>
                </a:extLst>
              </a:tr>
              <a:tr h="543487">
                <a:tc>
                  <a:txBody>
                    <a:bodyPr/>
                    <a:lstStyle/>
                    <a:p>
                      <a:r>
                        <a:rPr lang="en-US" dirty="0"/>
                        <a:t>@Component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/>
                        <a:t>Indicates that a class is a Spring-managed component, allowing it to be automatically detected and instatiated by the Spring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692393"/>
                  </a:ext>
                </a:extLst>
              </a:tr>
              <a:tr h="543487">
                <a:tc>
                  <a:txBody>
                    <a:bodyPr/>
                    <a:lstStyle/>
                    <a:p>
                      <a:r>
                        <a:rPr lang="en-US" dirty="0"/>
                        <a:t>@Configuration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/>
                        <a:t>Indicates that a class provides bean definitions and configurations to the Spring IoC container. Typically used with @Bean methods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653178"/>
                  </a:ext>
                </a:extLst>
              </a:tr>
              <a:tr h="776410">
                <a:tc>
                  <a:txBody>
                    <a:bodyPr/>
                    <a:lstStyle/>
                    <a:p>
                      <a:r>
                        <a:rPr lang="en-US" dirty="0"/>
                        <a:t>@Bean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/>
                        <a:t>Marks a method as a provider of beans to be managed by the Spring IoC container included in a @Configuration class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254060"/>
                  </a:ext>
                </a:extLst>
              </a:tr>
              <a:tr h="415717">
                <a:tc>
                  <a:txBody>
                    <a:bodyPr/>
                    <a:lstStyle/>
                    <a:p>
                      <a:r>
                        <a:rPr lang="en-US" dirty="0"/>
                        <a:t>@Qualifier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/>
                        <a:t>Specifies which bean to autowire when multiple beans of the same type are present.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324309"/>
                  </a:ext>
                </a:extLst>
              </a:tr>
              <a:tr h="543487">
                <a:tc>
                  <a:txBody>
                    <a:bodyPr/>
                    <a:lstStyle/>
                    <a:p>
                      <a:r>
                        <a:rPr lang="en-US" dirty="0"/>
                        <a:t>@Value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/>
                        <a:t>Injects values from Spring’s environment (such as properties files or system properties) into a bean’s fields or methods.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491719"/>
                  </a:ext>
                </a:extLst>
              </a:tr>
              <a:tr h="593882">
                <a:tc>
                  <a:txBody>
                    <a:bodyPr/>
                    <a:lstStyle/>
                    <a:p>
                      <a:r>
                        <a:rPr lang="en-US" dirty="0"/>
                        <a:t>@Scope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/>
                        <a:t>Specifies the scope (e.g. singleton, prototype, request, session) in which a bean should be created and managed by the Spring IoC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560361"/>
                  </a:ext>
                </a:extLst>
              </a:tr>
              <a:tr h="593882">
                <a:tc>
                  <a:txBody>
                    <a:bodyPr/>
                    <a:lstStyle/>
                    <a:p>
                      <a:r>
                        <a:rPr lang="en-US" dirty="0"/>
                        <a:t>@PostConstruct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/>
                        <a:t>An initialization method annotated with @PostConstruct is executed after the dependency is injected and before the bean is brought into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52386"/>
                  </a:ext>
                </a:extLst>
              </a:tr>
              <a:tr h="776410">
                <a:tc>
                  <a:txBody>
                    <a:bodyPr/>
                    <a:lstStyle/>
                    <a:p>
                      <a:r>
                        <a:rPr lang="en-US" dirty="0"/>
                        <a:t>@PreDestroy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RO" dirty="0"/>
                        <a:t>A cleanup method annotated with @PreDestroy is executed just before the bean is removed from the Spring IoC container, allowing for resource cleanup or shutdown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383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56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8AE0D-7804-7896-6481-79F3A9D64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C833-5764-F8B4-BD77-FB5E47CAE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Logging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CBA269-3718-2E52-1F01-EB783E1081C7}"/>
              </a:ext>
            </a:extLst>
          </p:cNvPr>
          <p:cNvSpPr txBox="1"/>
          <p:nvPr/>
        </p:nvSpPr>
        <p:spPr>
          <a:xfrm>
            <a:off x="793750" y="1970038"/>
            <a:ext cx="10210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RO" dirty="0"/>
              <a:t>Logging is an essential aspect of application development, allowing developers to track and analyze the behaviour of their applications</a:t>
            </a:r>
          </a:p>
          <a:p>
            <a:pPr>
              <a:buFont typeface="Arial" panose="020B0604020202020204" pitchFamily="34" charset="0"/>
              <a:buChar char="•"/>
            </a:pPr>
            <a:endParaRPr lang="en-RO" dirty="0"/>
          </a:p>
          <a:p>
            <a:pPr>
              <a:buFont typeface="Arial" panose="020B0604020202020204" pitchFamily="34" charset="0"/>
              <a:buChar char="•"/>
            </a:pPr>
            <a:r>
              <a:rPr lang="en-RO" dirty="0"/>
              <a:t>In Spring, logging is typically handled by popular logging frameworks such as Log4j, Logback, Java Util Logging</a:t>
            </a:r>
          </a:p>
          <a:p>
            <a:pPr>
              <a:buFont typeface="Arial" panose="020B0604020202020204" pitchFamily="34" charset="0"/>
              <a:buChar char="•"/>
            </a:pPr>
            <a:endParaRPr lang="en-RO" dirty="0"/>
          </a:p>
          <a:p>
            <a:pPr>
              <a:buFont typeface="Arial" panose="020B0604020202020204" pitchFamily="34" charset="0"/>
              <a:buChar char="•"/>
            </a:pPr>
            <a:r>
              <a:rPr lang="en-RO" dirty="0"/>
              <a:t>These frameworks offer features like configurable log levels, output destinations (console, file, database), log rotation and log formatting.</a:t>
            </a:r>
          </a:p>
          <a:p>
            <a:pPr>
              <a:buFont typeface="Arial" panose="020B0604020202020204" pitchFamily="34" charset="0"/>
              <a:buChar char="•"/>
            </a:pPr>
            <a:endParaRPr lang="en-RO" dirty="0"/>
          </a:p>
          <a:p>
            <a:pPr>
              <a:buFont typeface="Arial" panose="020B0604020202020204" pitchFamily="34" charset="0"/>
              <a:buChar char="•"/>
            </a:pPr>
            <a:r>
              <a:rPr lang="en-RO" dirty="0"/>
              <a:t>Supports auditing and compliance requriements by capturing user actions, security events and data access activities</a:t>
            </a:r>
          </a:p>
          <a:p>
            <a:pPr>
              <a:buFont typeface="Arial" panose="020B0604020202020204" pitchFamily="34" charset="0"/>
              <a:buChar char="•"/>
            </a:pPr>
            <a:endParaRPr lang="en-RO" dirty="0"/>
          </a:p>
          <a:p>
            <a:pPr>
              <a:buFont typeface="Arial" panose="020B0604020202020204" pitchFamily="34" charset="0"/>
              <a:buChar char="•"/>
            </a:pPr>
            <a:r>
              <a:rPr lang="en-RO" dirty="0"/>
              <a:t>Facilitates application monitoring and performance tuning by recording metrics, warning and errors in runtime environments</a:t>
            </a:r>
          </a:p>
        </p:txBody>
      </p:sp>
    </p:spTree>
    <p:extLst>
      <p:ext uri="{BB962C8B-B14F-4D97-AF65-F5344CB8AC3E}">
        <p14:creationId xmlns:p14="http://schemas.microsoft.com/office/powerpoint/2010/main" val="883354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888C-0762-6EAD-3C7D-1484DEC0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CDAC-6AEE-8C6E-F2C3-ABAA06225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Logging levels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3122A-1403-2DAA-8294-AA7AF0077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08" y="2351531"/>
            <a:ext cx="8341154" cy="20227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1068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2AA93-BA2A-9D32-FDBD-1D6C7BC1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0A082-DAB8-1AFB-DD07-B9E3B15CC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What is Spring Boot?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A29BAA-BF3E-25F2-42C5-E5F89A0823F0}"/>
              </a:ext>
            </a:extLst>
          </p:cNvPr>
          <p:cNvSpPr txBox="1"/>
          <p:nvPr/>
        </p:nvSpPr>
        <p:spPr>
          <a:xfrm>
            <a:off x="793750" y="1970038"/>
            <a:ext cx="10210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Spring Boot is a framework that simplifies the process of creating stand-alone, production grade Spring-based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It builds on top of the Spring framework and provides a set of conventions and defaults to streamline development (convention over configuration)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Spring boot aims to reduce configuration overhead and improve developer productivity</a:t>
            </a:r>
          </a:p>
        </p:txBody>
      </p:sp>
    </p:spTree>
    <p:extLst>
      <p:ext uri="{BB962C8B-B14F-4D97-AF65-F5344CB8AC3E}">
        <p14:creationId xmlns:p14="http://schemas.microsoft.com/office/powerpoint/2010/main" val="2209758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D3435-2A64-4E01-6343-06A69BEC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1A5DF-30BC-52EB-23DB-E21D6CA8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Key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4875FF-021C-4BFE-EA2A-AB9C093AA5F7}"/>
              </a:ext>
            </a:extLst>
          </p:cNvPr>
          <p:cNvSpPr txBox="1"/>
          <p:nvPr/>
        </p:nvSpPr>
        <p:spPr>
          <a:xfrm>
            <a:off x="793750" y="1970038"/>
            <a:ext cx="10210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Auto-configuration: Spring Boot automatically configures common application components based on the project dependencies and settings, reducing boilerplate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Starter dependencies: Introduces starter dependencies, which provides pre-configured sets of dependencies for common use cases such as web applications, data access and security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Spring Boot Actuator: Introduces the Actuator, which provides procution-ready features for monitoring, managing and troubleshooting Spring Boot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RO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RO" dirty="0"/>
              <a:t>Enables rapid development of web applications by providing embedded servers like Tomcat, Jetty allowing developers to run applications as standalone JAR files</a:t>
            </a:r>
          </a:p>
        </p:txBody>
      </p:sp>
    </p:spTree>
    <p:extLst>
      <p:ext uri="{BB962C8B-B14F-4D97-AF65-F5344CB8AC3E}">
        <p14:creationId xmlns:p14="http://schemas.microsoft.com/office/powerpoint/2010/main" val="1826973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FCBE-9E97-19A1-4267-7D20391D4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BDAD8-7643-A7F3-7FB4-8BBE94987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091820"/>
            <a:ext cx="11141804" cy="598867"/>
          </a:xfrm>
        </p:spPr>
        <p:txBody>
          <a:bodyPr anchor="ctr">
            <a:normAutofit/>
          </a:bodyPr>
          <a:lstStyle/>
          <a:p>
            <a:r>
              <a:rPr lang="en-US" sz="3400" dirty="0"/>
              <a:t>Modules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2B4167-12DB-8682-DE38-1890CAF0E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250" y="1690687"/>
            <a:ext cx="6057900" cy="3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876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TSS Roboto">
      <a:majorFont>
        <a:latin typeface="Roboto Medium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defRPr sz="1000" dirty="0" smtClean="0">
            <a:latin typeface="Roboto Light" panose="02000000000000000000" pitchFamily="2" charset="0"/>
            <a:ea typeface="Roboto Light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TSS template simple v01 2023 .potx" id="{291087DE-49C5-4F63-8C49-0913628F46B7}" vid="{70AC428F-BEED-44E7-BB71-7F1B8D9107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76DEA48D4D2148B77257000BB46D40" ma:contentTypeVersion="14" ma:contentTypeDescription="Create a new document." ma:contentTypeScope="" ma:versionID="9a9b8eeefed18b16d1f591022d1c4a0a">
  <xsd:schema xmlns:xsd="http://www.w3.org/2001/XMLSchema" xmlns:xs="http://www.w3.org/2001/XMLSchema" xmlns:p="http://schemas.microsoft.com/office/2006/metadata/properties" xmlns:ns2="9fdbb4ac-57f0-4155-9258-15310c4b7c2c" xmlns:ns3="f2327160-3c29-4b32-9d12-d1bf3900ce19" targetNamespace="http://schemas.microsoft.com/office/2006/metadata/properties" ma:root="true" ma:fieldsID="57e3e8a0ee7d57f5f622a22c4dbf388f" ns2:_="" ns3:_="">
    <xsd:import namespace="9fdbb4ac-57f0-4155-9258-15310c4b7c2c"/>
    <xsd:import namespace="f2327160-3c29-4b32-9d12-d1bf3900ce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bb4ac-57f0-4155-9258-15310c4b7c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040045a-424b-47e5-96a8-15817e74bf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327160-3c29-4b32-9d12-d1bf3900ce1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448d754-18b9-4bde-a7aa-1238c9d4a016}" ma:internalName="TaxCatchAll" ma:showField="CatchAllData" ma:web="f2327160-3c29-4b32-9d12-d1bf3900ce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327160-3c29-4b32-9d12-d1bf3900ce19" xsi:nil="true"/>
    <lcf76f155ced4ddcb4097134ff3c332f xmlns="9fdbb4ac-57f0-4155-9258-15310c4b7c2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05CC669-0EDC-4C1E-8DAA-BB249DEB51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6A6C3E-FFE8-4483-9855-C138C5313D4D}">
  <ds:schemaRefs>
    <ds:schemaRef ds:uri="9fdbb4ac-57f0-4155-9258-15310c4b7c2c"/>
    <ds:schemaRef ds:uri="f2327160-3c29-4b32-9d12-d1bf3900ce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4D8D2B7-E63E-47E8-829B-111CFA3DF0BC}">
  <ds:schemaRefs>
    <ds:schemaRef ds:uri="9fdbb4ac-57f0-4155-9258-15310c4b7c2c"/>
    <ds:schemaRef ds:uri="f2327160-3c29-4b32-9d12-d1bf3900ce1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874</Words>
  <Application>Microsoft Office PowerPoint</Application>
  <PresentationFormat>Widescreen</PresentationFormat>
  <Paragraphs>118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Roboto</vt:lpstr>
      <vt:lpstr>Roboto Light</vt:lpstr>
      <vt:lpstr>Roboto Medium</vt:lpstr>
      <vt:lpstr>Wingdings</vt:lpstr>
      <vt:lpstr>Office Theme</vt:lpstr>
      <vt:lpstr>Spring &amp; Spring Boot</vt:lpstr>
      <vt:lpstr>What is Spring?</vt:lpstr>
      <vt:lpstr>Spring – Key Features</vt:lpstr>
      <vt:lpstr>Inversion of Control (IoC)</vt:lpstr>
      <vt:lpstr>Dependency injection (DI)</vt:lpstr>
      <vt:lpstr>Example Traditional vs IoC</vt:lpstr>
      <vt:lpstr>Common annotations</vt:lpstr>
      <vt:lpstr>Logging</vt:lpstr>
      <vt:lpstr>Logging levels</vt:lpstr>
      <vt:lpstr>What is Spring Boot?</vt:lpstr>
      <vt:lpstr>Key features</vt:lpstr>
      <vt:lpstr>Modules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Zainea</dc:creator>
  <cp:lastModifiedBy>Bogdan David</cp:lastModifiedBy>
  <cp:revision>22</cp:revision>
  <dcterms:created xsi:type="dcterms:W3CDTF">2025-05-21T14:36:18Z</dcterms:created>
  <dcterms:modified xsi:type="dcterms:W3CDTF">2025-09-27T12:33:47Z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0x0101003576DEA48D4D2148B77257000BB46D40</vt:lpwstr>
  </property>
  <property fmtid="{D5CDD505-2E9C-101B-9397-08002B2CF9AE}" pid="3" name="MediaServiceImageTags">
    <vt:lpwstr/>
  </property>
</Properties>
</file>