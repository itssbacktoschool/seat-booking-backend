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0" r:id="rId4"/>
  </p:sldMasterIdLst>
  <p:notesMasterIdLst>
    <p:notesMasterId r:id="rId16"/>
  </p:notesMasterIdLst>
  <p:handoutMasterIdLst>
    <p:handoutMasterId r:id="rId17"/>
  </p:handoutMasterIdLst>
  <p:sldIdLst>
    <p:sldId id="257" r:id="rId5"/>
    <p:sldId id="375" r:id="rId6"/>
    <p:sldId id="381" r:id="rId7"/>
    <p:sldId id="384" r:id="rId8"/>
    <p:sldId id="391" r:id="rId9"/>
    <p:sldId id="390" r:id="rId10"/>
    <p:sldId id="392" r:id="rId11"/>
    <p:sldId id="393" r:id="rId12"/>
    <p:sldId id="382" r:id="rId13"/>
    <p:sldId id="394" r:id="rId14"/>
    <p:sldId id="39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40A42BE-D8A9-5553-988A-7442DE4A4080}" name="Andrei Rizea" initials="AR" userId="S::andrei.rizea@itsmartsystems.eu::717dec01-bfe8-423d-83a1-0cd626eacbc5" providerId="AD"/>
  <p188:author id="{6302D0CC-D211-AD5F-4BAF-849B5CD701C9}" name="Aurel Nica" initials="AN" userId="S::aurel.nica@itsmartsystems.eu::de53102f-bbc4-4232-88db-c95b7b8da84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5C0"/>
    <a:srgbClr val="0298E3"/>
    <a:srgbClr val="00A0EC"/>
    <a:srgbClr val="194EA5"/>
    <a:srgbClr val="1D48A1"/>
    <a:srgbClr val="2B3595"/>
    <a:srgbClr val="F0F0F0"/>
    <a:srgbClr val="0C61B1"/>
    <a:srgbClr val="BEE3FA"/>
    <a:srgbClr val="03A2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0D4EAE-D426-864C-AAE2-6A0FD73A0948}" v="186" dt="2025-07-25T07:49:37.6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CD56BA5-B659-006C-29E2-FC75A17D468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CB57B1-AAC1-97DE-E2A6-1B61871D728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F053B8-80AE-4DAF-8C37-151CAE98F266}" type="datetimeFigureOut">
              <a:rPr lang="en-US" smtClean="0"/>
              <a:t>28/09/2025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65149A-136C-319A-BB73-82FDE2EBE80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6CD9D0-8A85-5793-F877-422D8887338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80CEB6-53BA-4E15-89ED-932D829F0F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3411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22FDA-22DD-44E3-AF8C-2DE3156E25CB}" type="datetimeFigureOut">
              <a:rPr lang="en-US" smtClean="0"/>
              <a:t>28/09/2025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A32559-C416-46EC-BE00-2A3C4502C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482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32559-C416-46EC-BE00-2A3C4502CB5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2778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32559-C416-46EC-BE00-2A3C4502CB5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9697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467DA-F195-AA12-0355-BD3C59FDE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831283-A6CF-6259-D549-0B809373EA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3CFBD9-6F63-E7C4-EEE1-3AA47ABB8D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A12C3B-9C8A-2B0D-C1F0-15A32568D0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32559-C416-46EC-BE00-2A3C4502CB5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3774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B3E84-6DDA-7E2C-C21B-615652A25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329943-DABB-B210-9ED8-2DAE46D5B3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5A416A-6ED1-9D4D-F207-7550C100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B8166D-1B4F-1ABD-3CB1-0A1AE7C0C4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32559-C416-46EC-BE00-2A3C4502CB5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2249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7B954-FB85-C3CF-2FC4-B0FEEDEDB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A07D4B-8943-468A-EDF5-F980955C88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0B3885-66AB-F717-B083-8E1B926332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8A3247-F677-C467-BC4B-C79C1FB333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32559-C416-46EC-BE00-2A3C4502CB5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1034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63A4D-E5FF-3D9A-D6ED-C22A208FB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36674E-2373-BE3C-51ED-0CC88F7652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270CAC-5AAC-56FF-5B09-2643E528DF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A0EA74-E6A7-9E48-2E5C-92AD50E586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32559-C416-46EC-BE00-2A3C4502CB5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1288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94A19-5AB5-49FB-8169-E785EB41F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0E4BB7-0C40-3914-E3FA-73B364FACE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1D7F70-AE23-10B7-E214-114A6241E7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CD7E61-3466-15EC-EA3A-9935598289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32559-C416-46EC-BE00-2A3C4502CB5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5421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EAD11-8962-3A2F-F387-8EB2F888E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F64FA9-C1AE-A052-593A-2EF8A06459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FE89CA-E523-F09D-6669-C94BAD524E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216174-1E0A-C47C-FABB-BE8AEF7B4C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32559-C416-46EC-BE00-2A3C4502CB5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2078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C80DD-2DD5-E21E-038B-1C5496D2C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F5B669-2613-C6BA-6F95-748065D677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42CBC9-461C-CB2F-C86D-513AAB6A0F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744FCA-1936-8794-6EEC-3469E5159B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32559-C416-46EC-BE00-2A3C4502CB5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5590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BD580-3F73-2750-C54B-E684F1947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4960BC-412A-34A2-472E-B511B6E960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3C2F86-0F0E-32AE-45F1-AD9B64E0AB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9ED92D-D17D-7B57-3108-5BFC8934D7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32559-C416-46EC-BE00-2A3C4502CB5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7909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8E758-1F88-C91D-6DC9-7AEA38B5B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8FB0B3-732D-22D7-8A62-D203A32FF6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BF3DE5-CC8F-DC72-0F1D-23FFF94D13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90B399-E908-7946-F750-6EB00B4C46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32559-C416-46EC-BE00-2A3C4502CB5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4105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994ACE59-8E1F-F472-4030-C7DAAB70895A}"/>
              </a:ext>
            </a:extLst>
          </p:cNvPr>
          <p:cNvSpPr/>
          <p:nvPr userDrawn="1"/>
        </p:nvSpPr>
        <p:spPr>
          <a:xfrm>
            <a:off x="5289392" y="261232"/>
            <a:ext cx="6335533" cy="6335533"/>
          </a:xfrm>
          <a:prstGeom prst="ellipse">
            <a:avLst/>
          </a:prstGeom>
          <a:gradFill flip="none" rotWithShape="1">
            <a:gsLst>
              <a:gs pos="34000">
                <a:srgbClr val="0588D4"/>
              </a:gs>
              <a:gs pos="0">
                <a:srgbClr val="0298E3"/>
              </a:gs>
              <a:gs pos="75000">
                <a:srgbClr val="0C61B1"/>
              </a:gs>
              <a:gs pos="100000">
                <a:srgbClr val="2B3595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8138D1A-C3A6-EC85-C434-F52EAC89C0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75360" y="4000501"/>
            <a:ext cx="2537460" cy="1318259"/>
          </a:xfrm>
        </p:spPr>
        <p:txBody>
          <a:bodyPr anchor="t">
            <a:normAutofit/>
          </a:bodyPr>
          <a:lstStyle>
            <a:lvl1pPr algn="l">
              <a:lnSpc>
                <a:spcPts val="3200"/>
              </a:lnSpc>
              <a:defRPr sz="3200">
                <a:latin typeface="+mn-lt"/>
              </a:defRPr>
            </a:lvl1pPr>
          </a:lstStyle>
          <a:p>
            <a:r>
              <a:rPr lang="en-GB"/>
              <a:t>Your Gorgeous Title Here</a:t>
            </a:r>
            <a:endParaRPr lang="ro-RO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0D7A55B-8097-49A8-C023-C3A35D8924B0}"/>
              </a:ext>
            </a:extLst>
          </p:cNvPr>
          <p:cNvSpPr/>
          <p:nvPr userDrawn="1"/>
        </p:nvSpPr>
        <p:spPr>
          <a:xfrm>
            <a:off x="6247821" y="838199"/>
            <a:ext cx="5181600" cy="5181600"/>
          </a:xfrm>
          <a:prstGeom prst="ellipse">
            <a:avLst/>
          </a:prstGeom>
          <a:blipFill>
            <a:blip r:embed="rId2"/>
            <a:stretch>
              <a:fillRect l="-33529" t="-38896" r="-71765" b="-326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79AA82C-0D39-A067-4DAD-1439FCC5A0B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325" y="1807784"/>
            <a:ext cx="3629892" cy="162121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D227FB2-8D30-96D8-C335-0CF7B49E0866}"/>
              </a:ext>
            </a:extLst>
          </p:cNvPr>
          <p:cNvCxnSpPr/>
          <p:nvPr userDrawn="1"/>
        </p:nvCxnSpPr>
        <p:spPr>
          <a:xfrm>
            <a:off x="762579" y="3428999"/>
            <a:ext cx="2395220" cy="0"/>
          </a:xfrm>
          <a:prstGeom prst="line">
            <a:avLst/>
          </a:prstGeom>
          <a:ln w="12700" cap="rnd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1520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E4734-831F-1C4C-BBEB-904AFFD9D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61" y="1091821"/>
            <a:ext cx="11134184" cy="5936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20FE7-4EAC-254E-AA2E-AF380D16B8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61" y="2647665"/>
            <a:ext cx="11134183" cy="31185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80F77EE-AB20-E1FB-B6DD-5C8732A3AF93}"/>
              </a:ext>
            </a:extLst>
          </p:cNvPr>
          <p:cNvSpPr txBox="1">
            <a:spLocks/>
          </p:cNvSpPr>
          <p:nvPr userDrawn="1"/>
        </p:nvSpPr>
        <p:spPr>
          <a:xfrm>
            <a:off x="8977724" y="463018"/>
            <a:ext cx="2743200" cy="1649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o-RO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698B14-68FA-413A-BC50-763A65A75409}" type="slidenum">
              <a:rPr lang="ro-RO" sz="1000" smtClean="0">
                <a:solidFill>
                  <a:schemeClr val="tx1"/>
                </a:solidFill>
                <a:latin typeface="+mj-lt"/>
              </a:rPr>
              <a:pPr/>
              <a:t>‹#›</a:t>
            </a:fld>
            <a:endParaRPr lang="ro-RO" sz="100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532ABB5-A77B-38C9-3274-C8B5D607DC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6224" y="5864688"/>
            <a:ext cx="1657743" cy="740397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F98E3F4-E66B-53FB-2956-FE47C7EAB4B6}"/>
              </a:ext>
            </a:extLst>
          </p:cNvPr>
          <p:cNvCxnSpPr/>
          <p:nvPr userDrawn="1"/>
        </p:nvCxnSpPr>
        <p:spPr>
          <a:xfrm flipV="1">
            <a:off x="1906176" y="6238875"/>
            <a:ext cx="0" cy="200025"/>
          </a:xfrm>
          <a:prstGeom prst="line">
            <a:avLst/>
          </a:prstGeom>
          <a:ln w="285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4">
            <a:extLst>
              <a:ext uri="{FF2B5EF4-FFF2-40B4-BE49-F238E27FC236}">
                <a16:creationId xmlns:a16="http://schemas.microsoft.com/office/drawing/2014/main" id="{F52CC21A-4009-26C2-CC7A-8DD283C4A46F}"/>
              </a:ext>
            </a:extLst>
          </p:cNvPr>
          <p:cNvSpPr txBox="1">
            <a:spLocks/>
          </p:cNvSpPr>
          <p:nvPr userDrawn="1"/>
        </p:nvSpPr>
        <p:spPr>
          <a:xfrm>
            <a:off x="2080889" y="6170707"/>
            <a:ext cx="1682731" cy="3363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o-RO" sz="1400"/>
              <a:t>itsmartsystems.eu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04E470B-97A0-65C5-89A4-E21879627711}"/>
              </a:ext>
            </a:extLst>
          </p:cNvPr>
          <p:cNvCxnSpPr>
            <a:cxnSpLocks/>
          </p:cNvCxnSpPr>
          <p:nvPr userDrawn="1"/>
        </p:nvCxnSpPr>
        <p:spPr>
          <a:xfrm>
            <a:off x="576689" y="561901"/>
            <a:ext cx="442486" cy="0"/>
          </a:xfrm>
          <a:prstGeom prst="line">
            <a:avLst/>
          </a:prstGeom>
          <a:ln w="38100" cap="rnd">
            <a:solidFill>
              <a:srgbClr val="194E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56C37A4-6F08-FC5B-79D2-9EC3A2678BC3}"/>
              </a:ext>
            </a:extLst>
          </p:cNvPr>
          <p:cNvSpPr txBox="1"/>
          <p:nvPr userDrawn="1"/>
        </p:nvSpPr>
        <p:spPr>
          <a:xfrm>
            <a:off x="9172576" y="6276234"/>
            <a:ext cx="2743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sz="900">
                <a:solidFill>
                  <a:srgbClr val="9D9D9D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All Rights Reserved </a:t>
            </a:r>
            <a:r>
              <a:rPr lang="en-US" sz="900">
                <a:solidFill>
                  <a:srgbClr val="9D9D9D"/>
                </a:solidFill>
              </a:rPr>
              <a:t>©</a:t>
            </a:r>
            <a:r>
              <a:rPr lang="ro-RO" sz="900">
                <a:solidFill>
                  <a:srgbClr val="9D9D9D"/>
                </a:solidFill>
              </a:rPr>
              <a:t> 2025 IT Smart Systems</a:t>
            </a:r>
            <a:endParaRPr lang="en-US" sz="900">
              <a:solidFill>
                <a:srgbClr val="9D9D9D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3765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3C419-19B1-8245-9C13-B60B7D2AC5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2440" y="1082041"/>
            <a:ext cx="11239500" cy="22860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651D30-1DCD-DF40-A91B-0E10E4523B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2440" y="3602037"/>
            <a:ext cx="11239500" cy="2173921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o-RO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C360E3A-E40C-784C-E6F0-55D884C93E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6224" y="5868676"/>
            <a:ext cx="1657743" cy="740397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26B2F1-4681-A032-738F-2B89F3431213}"/>
              </a:ext>
            </a:extLst>
          </p:cNvPr>
          <p:cNvCxnSpPr/>
          <p:nvPr userDrawn="1"/>
        </p:nvCxnSpPr>
        <p:spPr>
          <a:xfrm flipV="1">
            <a:off x="1906176" y="6238875"/>
            <a:ext cx="0" cy="200025"/>
          </a:xfrm>
          <a:prstGeom prst="line">
            <a:avLst/>
          </a:prstGeom>
          <a:ln w="285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4">
            <a:extLst>
              <a:ext uri="{FF2B5EF4-FFF2-40B4-BE49-F238E27FC236}">
                <a16:creationId xmlns:a16="http://schemas.microsoft.com/office/drawing/2014/main" id="{12BC632E-00A9-BFF4-A5EC-44C20BD04896}"/>
              </a:ext>
            </a:extLst>
          </p:cNvPr>
          <p:cNvSpPr txBox="1">
            <a:spLocks/>
          </p:cNvSpPr>
          <p:nvPr userDrawn="1"/>
        </p:nvSpPr>
        <p:spPr>
          <a:xfrm>
            <a:off x="2080889" y="6170707"/>
            <a:ext cx="1682731" cy="3363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o-RO" sz="1400"/>
              <a:t>itsmartsystems.eu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0DF107-382E-E66E-D301-7E398D07D1D5}"/>
              </a:ext>
            </a:extLst>
          </p:cNvPr>
          <p:cNvSpPr txBox="1"/>
          <p:nvPr userDrawn="1"/>
        </p:nvSpPr>
        <p:spPr>
          <a:xfrm>
            <a:off x="9172576" y="6276234"/>
            <a:ext cx="2743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sz="900">
                <a:solidFill>
                  <a:srgbClr val="9D9D9D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All Rights Reserved </a:t>
            </a:r>
            <a:r>
              <a:rPr lang="en-US" sz="900">
                <a:solidFill>
                  <a:srgbClr val="9D9D9D"/>
                </a:solidFill>
              </a:rPr>
              <a:t>©</a:t>
            </a:r>
            <a:r>
              <a:rPr lang="ro-RO" sz="900">
                <a:solidFill>
                  <a:srgbClr val="9D9D9D"/>
                </a:solidFill>
              </a:rPr>
              <a:t> 2025 IT Smart Systems</a:t>
            </a:r>
            <a:endParaRPr lang="en-US" sz="900">
              <a:solidFill>
                <a:srgbClr val="9D9D9D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F36CF4D-7988-B175-AD7C-172C8321A7AD}"/>
              </a:ext>
            </a:extLst>
          </p:cNvPr>
          <p:cNvCxnSpPr>
            <a:cxnSpLocks/>
          </p:cNvCxnSpPr>
          <p:nvPr userDrawn="1"/>
        </p:nvCxnSpPr>
        <p:spPr>
          <a:xfrm>
            <a:off x="576689" y="561901"/>
            <a:ext cx="442486" cy="0"/>
          </a:xfrm>
          <a:prstGeom prst="line">
            <a:avLst/>
          </a:prstGeom>
          <a:ln w="38100" cap="rnd">
            <a:solidFill>
              <a:srgbClr val="194E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ACAA882-0CF1-A1EC-3677-327997B263C3}"/>
              </a:ext>
            </a:extLst>
          </p:cNvPr>
          <p:cNvSpPr txBox="1">
            <a:spLocks/>
          </p:cNvSpPr>
          <p:nvPr userDrawn="1"/>
        </p:nvSpPr>
        <p:spPr>
          <a:xfrm>
            <a:off x="8977724" y="463018"/>
            <a:ext cx="2743200" cy="1649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o-RO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698B14-68FA-413A-BC50-763A65A75409}" type="slidenum">
              <a:rPr lang="ro-RO" sz="1000" smtClean="0">
                <a:solidFill>
                  <a:schemeClr val="tx1"/>
                </a:solidFill>
                <a:latin typeface="+mj-lt"/>
              </a:rPr>
              <a:pPr/>
              <a:t>‹#›</a:t>
            </a:fld>
            <a:endParaRPr lang="ro-RO" sz="100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96387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5FEC7-9CEB-4044-BAD0-AF9D151EE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1091820"/>
            <a:ext cx="11141804" cy="598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1C66E-36AE-7443-BF7C-ABB1605FEF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0060" y="2647666"/>
            <a:ext cx="5479462" cy="31185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4DCB9B-0CE6-2345-989F-A396873D8A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7928" y="2647666"/>
            <a:ext cx="5386316" cy="31185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F95081E-F8EA-229B-0ABC-78AF6490EE4F}"/>
              </a:ext>
            </a:extLst>
          </p:cNvPr>
          <p:cNvSpPr txBox="1">
            <a:spLocks/>
          </p:cNvSpPr>
          <p:nvPr userDrawn="1"/>
        </p:nvSpPr>
        <p:spPr>
          <a:xfrm>
            <a:off x="8977724" y="463018"/>
            <a:ext cx="2743200" cy="1649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o-RO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698B14-68FA-413A-BC50-763A65A75409}" type="slidenum">
              <a:rPr lang="ro-RO" sz="1000" smtClean="0">
                <a:solidFill>
                  <a:schemeClr val="tx1"/>
                </a:solidFill>
                <a:latin typeface="+mj-lt"/>
              </a:rPr>
              <a:pPr/>
              <a:t>‹#›</a:t>
            </a:fld>
            <a:endParaRPr lang="ro-RO" sz="100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4FE35F5-735A-68CA-87C8-5FD8B35A23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6224" y="5864688"/>
            <a:ext cx="1657743" cy="740397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02E172F-42B0-93D1-FE97-FE159F2C3AE0}"/>
              </a:ext>
            </a:extLst>
          </p:cNvPr>
          <p:cNvCxnSpPr/>
          <p:nvPr userDrawn="1"/>
        </p:nvCxnSpPr>
        <p:spPr>
          <a:xfrm flipV="1">
            <a:off x="1906176" y="6238875"/>
            <a:ext cx="0" cy="200025"/>
          </a:xfrm>
          <a:prstGeom prst="line">
            <a:avLst/>
          </a:prstGeom>
          <a:ln w="285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4">
            <a:extLst>
              <a:ext uri="{FF2B5EF4-FFF2-40B4-BE49-F238E27FC236}">
                <a16:creationId xmlns:a16="http://schemas.microsoft.com/office/drawing/2014/main" id="{3EEB3BA7-9DD4-9867-ED03-7CA2EF56BC2E}"/>
              </a:ext>
            </a:extLst>
          </p:cNvPr>
          <p:cNvSpPr txBox="1">
            <a:spLocks/>
          </p:cNvSpPr>
          <p:nvPr userDrawn="1"/>
        </p:nvSpPr>
        <p:spPr>
          <a:xfrm>
            <a:off x="2080889" y="6170707"/>
            <a:ext cx="1682731" cy="3363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o-RO" sz="1400"/>
              <a:t>itsmartsystems.eu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36F6DD-3224-8A82-50D7-E859FF1325CC}"/>
              </a:ext>
            </a:extLst>
          </p:cNvPr>
          <p:cNvSpPr txBox="1"/>
          <p:nvPr userDrawn="1"/>
        </p:nvSpPr>
        <p:spPr>
          <a:xfrm>
            <a:off x="9172576" y="6276234"/>
            <a:ext cx="2743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sz="900">
                <a:solidFill>
                  <a:srgbClr val="9D9D9D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All Rights Reserved </a:t>
            </a:r>
            <a:r>
              <a:rPr lang="en-US" sz="900">
                <a:solidFill>
                  <a:srgbClr val="9D9D9D"/>
                </a:solidFill>
              </a:rPr>
              <a:t>©</a:t>
            </a:r>
            <a:r>
              <a:rPr lang="ro-RO" sz="900">
                <a:solidFill>
                  <a:srgbClr val="9D9D9D"/>
                </a:solidFill>
              </a:rPr>
              <a:t> 2025 IT Smart Systems</a:t>
            </a:r>
            <a:endParaRPr lang="en-US" sz="900">
              <a:solidFill>
                <a:srgbClr val="9D9D9D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85635EA-0EBE-DB3C-B3C1-5901943D0D70}"/>
              </a:ext>
            </a:extLst>
          </p:cNvPr>
          <p:cNvCxnSpPr>
            <a:cxnSpLocks/>
          </p:cNvCxnSpPr>
          <p:nvPr userDrawn="1"/>
        </p:nvCxnSpPr>
        <p:spPr>
          <a:xfrm>
            <a:off x="576689" y="561901"/>
            <a:ext cx="442486" cy="0"/>
          </a:xfrm>
          <a:prstGeom prst="line">
            <a:avLst/>
          </a:prstGeom>
          <a:ln w="38100" cap="rnd">
            <a:solidFill>
              <a:srgbClr val="194E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492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D31E4-8B39-4345-A787-4DAF9F353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1" y="1091821"/>
            <a:ext cx="11134980" cy="598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4609A7-8D77-754D-9F49-7F656D81D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0060" y="1690687"/>
            <a:ext cx="5478779" cy="8143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4578DF-6A62-6E45-BE3E-26302F4D4E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0060" y="2644139"/>
            <a:ext cx="5478779" cy="3122039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BF3CC5-FE37-7F4F-833A-E69E5774CA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33162" y="1690687"/>
            <a:ext cx="5385632" cy="8143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E6807D-A720-F241-9BB2-F122E01910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33162" y="2644139"/>
            <a:ext cx="5385632" cy="3122040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5A9E9F2-3D91-499D-E9E4-52170B2ABD45}"/>
              </a:ext>
            </a:extLst>
          </p:cNvPr>
          <p:cNvSpPr txBox="1">
            <a:spLocks/>
          </p:cNvSpPr>
          <p:nvPr userDrawn="1"/>
        </p:nvSpPr>
        <p:spPr>
          <a:xfrm>
            <a:off x="8977724" y="463018"/>
            <a:ext cx="2743200" cy="1649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o-RO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698B14-68FA-413A-BC50-763A65A75409}" type="slidenum">
              <a:rPr lang="ro-RO" sz="1000" smtClean="0">
                <a:solidFill>
                  <a:schemeClr val="tx1"/>
                </a:solidFill>
                <a:latin typeface="+mj-lt"/>
              </a:rPr>
              <a:pPr/>
              <a:t>‹#›</a:t>
            </a:fld>
            <a:endParaRPr lang="ro-RO" sz="100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AC8C29A-70A6-F72E-B19C-BB2C3D147E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6224" y="5864688"/>
            <a:ext cx="1657743" cy="740397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459290-3797-AF94-5023-42378B4883D5}"/>
              </a:ext>
            </a:extLst>
          </p:cNvPr>
          <p:cNvCxnSpPr/>
          <p:nvPr userDrawn="1"/>
        </p:nvCxnSpPr>
        <p:spPr>
          <a:xfrm flipV="1">
            <a:off x="1906176" y="6238875"/>
            <a:ext cx="0" cy="200025"/>
          </a:xfrm>
          <a:prstGeom prst="line">
            <a:avLst/>
          </a:prstGeom>
          <a:ln w="285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4">
            <a:extLst>
              <a:ext uri="{FF2B5EF4-FFF2-40B4-BE49-F238E27FC236}">
                <a16:creationId xmlns:a16="http://schemas.microsoft.com/office/drawing/2014/main" id="{3C0047E0-018D-E768-5225-D653CC9F984B}"/>
              </a:ext>
            </a:extLst>
          </p:cNvPr>
          <p:cNvSpPr txBox="1">
            <a:spLocks/>
          </p:cNvSpPr>
          <p:nvPr userDrawn="1"/>
        </p:nvSpPr>
        <p:spPr>
          <a:xfrm>
            <a:off x="2080889" y="6170707"/>
            <a:ext cx="1682731" cy="3363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o-RO" sz="1400"/>
              <a:t>itsmartsystems.eu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6FAAFA-90B6-4AC3-DAC8-F75E9B1E5EF8}"/>
              </a:ext>
            </a:extLst>
          </p:cNvPr>
          <p:cNvSpPr txBox="1"/>
          <p:nvPr userDrawn="1"/>
        </p:nvSpPr>
        <p:spPr>
          <a:xfrm>
            <a:off x="9172576" y="6276234"/>
            <a:ext cx="2743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sz="900">
                <a:solidFill>
                  <a:srgbClr val="9D9D9D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All Rights Reserved </a:t>
            </a:r>
            <a:r>
              <a:rPr lang="en-US" sz="900">
                <a:solidFill>
                  <a:srgbClr val="9D9D9D"/>
                </a:solidFill>
              </a:rPr>
              <a:t>©</a:t>
            </a:r>
            <a:r>
              <a:rPr lang="ro-RO" sz="900">
                <a:solidFill>
                  <a:srgbClr val="9D9D9D"/>
                </a:solidFill>
              </a:rPr>
              <a:t> 2025 IT Smart Systems</a:t>
            </a:r>
            <a:endParaRPr lang="en-US" sz="900">
              <a:solidFill>
                <a:srgbClr val="9D9D9D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03B92D3-9E21-F538-7E6B-F4D197AE1C12}"/>
              </a:ext>
            </a:extLst>
          </p:cNvPr>
          <p:cNvCxnSpPr>
            <a:cxnSpLocks/>
          </p:cNvCxnSpPr>
          <p:nvPr userDrawn="1"/>
        </p:nvCxnSpPr>
        <p:spPr>
          <a:xfrm>
            <a:off x="576689" y="561901"/>
            <a:ext cx="442486" cy="0"/>
          </a:xfrm>
          <a:prstGeom prst="line">
            <a:avLst/>
          </a:prstGeom>
          <a:ln w="38100" cap="rnd">
            <a:solidFill>
              <a:srgbClr val="194E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7324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7979A-6F45-3E4A-A60A-EFFA3826C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1097280"/>
            <a:ext cx="5486400" cy="96012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E547A6-5743-E643-B453-E57FD81B4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3160" y="1097280"/>
            <a:ext cx="5379720" cy="4671060"/>
          </a:xfrm>
        </p:spPr>
        <p:txBody>
          <a:bodyPr/>
          <a:lstStyle>
            <a:lvl1pPr marL="0" indent="0">
              <a:buFontTx/>
              <a:buNone/>
              <a:defRPr sz="3200"/>
            </a:lvl1pPr>
            <a:lvl2pPr marL="457200" indent="0">
              <a:buFontTx/>
              <a:buNone/>
              <a:defRPr sz="2800"/>
            </a:lvl2pPr>
            <a:lvl3pPr marL="914400" indent="0">
              <a:buFontTx/>
              <a:buNone/>
              <a:defRPr sz="24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A95366-C54A-DC4F-BB94-E48789E2CE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440" y="2110740"/>
            <a:ext cx="5486400" cy="364998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6DCFD7E-9D42-62AC-A809-1AAE7C4FD245}"/>
              </a:ext>
            </a:extLst>
          </p:cNvPr>
          <p:cNvSpPr txBox="1">
            <a:spLocks/>
          </p:cNvSpPr>
          <p:nvPr userDrawn="1"/>
        </p:nvSpPr>
        <p:spPr>
          <a:xfrm>
            <a:off x="8977724" y="463018"/>
            <a:ext cx="2743200" cy="1649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o-RO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698B14-68FA-413A-BC50-763A65A75409}" type="slidenum">
              <a:rPr lang="ro-RO" sz="1000" smtClean="0">
                <a:solidFill>
                  <a:schemeClr val="tx1"/>
                </a:solidFill>
                <a:latin typeface="+mj-lt"/>
              </a:rPr>
              <a:pPr/>
              <a:t>‹#›</a:t>
            </a:fld>
            <a:endParaRPr lang="ro-RO" sz="100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9B3F6E6-3640-7AFA-9A62-999FC8A527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6224" y="5864688"/>
            <a:ext cx="1657743" cy="740397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1D2DA7D-5D4C-F303-98F2-E86BD3625EF1}"/>
              </a:ext>
            </a:extLst>
          </p:cNvPr>
          <p:cNvCxnSpPr/>
          <p:nvPr userDrawn="1"/>
        </p:nvCxnSpPr>
        <p:spPr>
          <a:xfrm flipV="1">
            <a:off x="1906176" y="6238875"/>
            <a:ext cx="0" cy="200025"/>
          </a:xfrm>
          <a:prstGeom prst="line">
            <a:avLst/>
          </a:prstGeom>
          <a:ln w="285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4">
            <a:extLst>
              <a:ext uri="{FF2B5EF4-FFF2-40B4-BE49-F238E27FC236}">
                <a16:creationId xmlns:a16="http://schemas.microsoft.com/office/drawing/2014/main" id="{9AAF13FD-F910-DF5B-7ED1-4C7B3E9592FC}"/>
              </a:ext>
            </a:extLst>
          </p:cNvPr>
          <p:cNvSpPr txBox="1">
            <a:spLocks/>
          </p:cNvSpPr>
          <p:nvPr userDrawn="1"/>
        </p:nvSpPr>
        <p:spPr>
          <a:xfrm>
            <a:off x="2080889" y="6170707"/>
            <a:ext cx="1682731" cy="3363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o-RO" sz="1400"/>
              <a:t>itsmartsystems.eu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747E5C-F5AC-5E8C-AE46-E40BF29A9F3A}"/>
              </a:ext>
            </a:extLst>
          </p:cNvPr>
          <p:cNvSpPr txBox="1"/>
          <p:nvPr userDrawn="1"/>
        </p:nvSpPr>
        <p:spPr>
          <a:xfrm>
            <a:off x="9172576" y="6276234"/>
            <a:ext cx="2743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sz="900">
                <a:solidFill>
                  <a:srgbClr val="9D9D9D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All Rights Reserved </a:t>
            </a:r>
            <a:r>
              <a:rPr lang="en-US" sz="900">
                <a:solidFill>
                  <a:srgbClr val="9D9D9D"/>
                </a:solidFill>
              </a:rPr>
              <a:t>©</a:t>
            </a:r>
            <a:r>
              <a:rPr lang="ro-RO" sz="900">
                <a:solidFill>
                  <a:srgbClr val="9D9D9D"/>
                </a:solidFill>
              </a:rPr>
              <a:t> 2025 IT Smart Systems</a:t>
            </a:r>
            <a:endParaRPr lang="en-US" sz="900">
              <a:solidFill>
                <a:srgbClr val="9D9D9D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6F38CED-567C-4A8E-F2C1-3FC6D554A9FC}"/>
              </a:ext>
            </a:extLst>
          </p:cNvPr>
          <p:cNvCxnSpPr>
            <a:cxnSpLocks/>
          </p:cNvCxnSpPr>
          <p:nvPr userDrawn="1"/>
        </p:nvCxnSpPr>
        <p:spPr>
          <a:xfrm>
            <a:off x="576689" y="561901"/>
            <a:ext cx="442486" cy="0"/>
          </a:xfrm>
          <a:prstGeom prst="line">
            <a:avLst/>
          </a:prstGeom>
          <a:ln w="38100" cap="rnd">
            <a:solidFill>
              <a:srgbClr val="194E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4538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AA0D6-847E-0446-A7EE-29C6004BA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987424"/>
            <a:ext cx="4366260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847C8B-D78A-2D4F-A119-C27F106644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528752" cy="478853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ro-R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2707EF-1848-FF46-882C-FD33F01F0B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440" y="2057400"/>
            <a:ext cx="4366260" cy="371855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E75D1F7-AC41-546B-3080-5C106F5F1B9C}"/>
              </a:ext>
            </a:extLst>
          </p:cNvPr>
          <p:cNvSpPr txBox="1">
            <a:spLocks/>
          </p:cNvSpPr>
          <p:nvPr userDrawn="1"/>
        </p:nvSpPr>
        <p:spPr>
          <a:xfrm>
            <a:off x="8977724" y="463018"/>
            <a:ext cx="2743200" cy="1649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o-RO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698B14-68FA-413A-BC50-763A65A75409}" type="slidenum">
              <a:rPr lang="ro-RO" sz="1000" smtClean="0">
                <a:solidFill>
                  <a:schemeClr val="tx1"/>
                </a:solidFill>
                <a:latin typeface="+mj-lt"/>
              </a:rPr>
              <a:pPr/>
              <a:t>‹#›</a:t>
            </a:fld>
            <a:endParaRPr lang="ro-RO" sz="100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E816371-8451-D6C0-AE90-BCFECC031D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6224" y="5864688"/>
            <a:ext cx="1657743" cy="740397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7C209DD-08A6-166A-C4AB-18FF3C93C8BD}"/>
              </a:ext>
            </a:extLst>
          </p:cNvPr>
          <p:cNvCxnSpPr/>
          <p:nvPr userDrawn="1"/>
        </p:nvCxnSpPr>
        <p:spPr>
          <a:xfrm flipV="1">
            <a:off x="1906176" y="6238875"/>
            <a:ext cx="0" cy="200025"/>
          </a:xfrm>
          <a:prstGeom prst="line">
            <a:avLst/>
          </a:prstGeom>
          <a:ln w="285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4">
            <a:extLst>
              <a:ext uri="{FF2B5EF4-FFF2-40B4-BE49-F238E27FC236}">
                <a16:creationId xmlns:a16="http://schemas.microsoft.com/office/drawing/2014/main" id="{1B5967EF-DB7C-26FA-AA47-96AADBFCC74C}"/>
              </a:ext>
            </a:extLst>
          </p:cNvPr>
          <p:cNvSpPr txBox="1">
            <a:spLocks/>
          </p:cNvSpPr>
          <p:nvPr userDrawn="1"/>
        </p:nvSpPr>
        <p:spPr>
          <a:xfrm>
            <a:off x="2080889" y="6170707"/>
            <a:ext cx="1682731" cy="3363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o-RO" sz="1400"/>
              <a:t>itsmartsystems.eu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11F4F1-C195-307A-B725-01E9DF2B3B27}"/>
              </a:ext>
            </a:extLst>
          </p:cNvPr>
          <p:cNvSpPr txBox="1"/>
          <p:nvPr userDrawn="1"/>
        </p:nvSpPr>
        <p:spPr>
          <a:xfrm>
            <a:off x="9172576" y="6276234"/>
            <a:ext cx="2743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sz="900">
                <a:solidFill>
                  <a:srgbClr val="9D9D9D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All Rights Reserved </a:t>
            </a:r>
            <a:r>
              <a:rPr lang="en-US" sz="900">
                <a:solidFill>
                  <a:srgbClr val="9D9D9D"/>
                </a:solidFill>
              </a:rPr>
              <a:t>©</a:t>
            </a:r>
            <a:r>
              <a:rPr lang="ro-RO" sz="900">
                <a:solidFill>
                  <a:srgbClr val="9D9D9D"/>
                </a:solidFill>
              </a:rPr>
              <a:t> 2025 IT Smart Systems</a:t>
            </a:r>
            <a:endParaRPr lang="en-US" sz="900">
              <a:solidFill>
                <a:srgbClr val="9D9D9D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9FBED8F-8A74-BF47-3016-D17DAE49D9AD}"/>
              </a:ext>
            </a:extLst>
          </p:cNvPr>
          <p:cNvCxnSpPr>
            <a:cxnSpLocks/>
          </p:cNvCxnSpPr>
          <p:nvPr userDrawn="1"/>
        </p:nvCxnSpPr>
        <p:spPr>
          <a:xfrm>
            <a:off x="576689" y="561901"/>
            <a:ext cx="442486" cy="0"/>
          </a:xfrm>
          <a:prstGeom prst="line">
            <a:avLst/>
          </a:prstGeom>
          <a:ln w="38100" cap="rnd">
            <a:solidFill>
              <a:srgbClr val="194E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1553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F49E18-793C-2B51-A43A-5E301EDC3D21}"/>
              </a:ext>
            </a:extLst>
          </p:cNvPr>
          <p:cNvSpPr txBox="1">
            <a:spLocks/>
          </p:cNvSpPr>
          <p:nvPr userDrawn="1"/>
        </p:nvSpPr>
        <p:spPr>
          <a:xfrm>
            <a:off x="8977724" y="463018"/>
            <a:ext cx="2743200" cy="1649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o-RO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698B14-68FA-413A-BC50-763A65A75409}" type="slidenum">
              <a:rPr lang="ro-RO" sz="1000" smtClean="0">
                <a:solidFill>
                  <a:schemeClr val="tx1"/>
                </a:solidFill>
                <a:latin typeface="+mj-lt"/>
              </a:rPr>
              <a:pPr/>
              <a:t>‹#›</a:t>
            </a:fld>
            <a:endParaRPr lang="ro-RO" sz="100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9AC1A3F1-04CA-3BC4-F9A6-AB4FA7E2D72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6224" y="5864688"/>
            <a:ext cx="1657743" cy="740397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6A8AF4F-6C14-B714-A9C6-AA48A8B97600}"/>
              </a:ext>
            </a:extLst>
          </p:cNvPr>
          <p:cNvCxnSpPr/>
          <p:nvPr userDrawn="1"/>
        </p:nvCxnSpPr>
        <p:spPr>
          <a:xfrm flipV="1">
            <a:off x="1906176" y="6238875"/>
            <a:ext cx="0" cy="200025"/>
          </a:xfrm>
          <a:prstGeom prst="line">
            <a:avLst/>
          </a:prstGeom>
          <a:ln w="285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4">
            <a:extLst>
              <a:ext uri="{FF2B5EF4-FFF2-40B4-BE49-F238E27FC236}">
                <a16:creationId xmlns:a16="http://schemas.microsoft.com/office/drawing/2014/main" id="{A11B5089-D054-255D-5754-AE2554C521D8}"/>
              </a:ext>
            </a:extLst>
          </p:cNvPr>
          <p:cNvSpPr txBox="1">
            <a:spLocks/>
          </p:cNvSpPr>
          <p:nvPr userDrawn="1"/>
        </p:nvSpPr>
        <p:spPr>
          <a:xfrm>
            <a:off x="2080889" y="6170707"/>
            <a:ext cx="1682731" cy="3363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o-RO" sz="1400"/>
              <a:t>itsmartsystems.eu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DC17EC-194A-C300-96F8-0490E2E322E6}"/>
              </a:ext>
            </a:extLst>
          </p:cNvPr>
          <p:cNvSpPr txBox="1"/>
          <p:nvPr userDrawn="1"/>
        </p:nvSpPr>
        <p:spPr>
          <a:xfrm>
            <a:off x="9172576" y="6276234"/>
            <a:ext cx="2743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sz="900">
                <a:solidFill>
                  <a:srgbClr val="9D9D9D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All Rights Reserved </a:t>
            </a:r>
            <a:r>
              <a:rPr lang="en-US" sz="900">
                <a:solidFill>
                  <a:srgbClr val="9D9D9D"/>
                </a:solidFill>
              </a:rPr>
              <a:t>©</a:t>
            </a:r>
            <a:r>
              <a:rPr lang="ro-RO" sz="900">
                <a:solidFill>
                  <a:srgbClr val="9D9D9D"/>
                </a:solidFill>
              </a:rPr>
              <a:t> 2025 IT Smart Systems</a:t>
            </a:r>
            <a:endParaRPr lang="en-US" sz="900">
              <a:solidFill>
                <a:srgbClr val="9D9D9D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667F66A-A3C2-CD12-4A95-93BC290565C6}"/>
              </a:ext>
            </a:extLst>
          </p:cNvPr>
          <p:cNvCxnSpPr>
            <a:cxnSpLocks/>
          </p:cNvCxnSpPr>
          <p:nvPr userDrawn="1"/>
        </p:nvCxnSpPr>
        <p:spPr>
          <a:xfrm>
            <a:off x="576689" y="561901"/>
            <a:ext cx="442486" cy="0"/>
          </a:xfrm>
          <a:prstGeom prst="line">
            <a:avLst/>
          </a:prstGeom>
          <a:ln w="38100" cap="rnd">
            <a:solidFill>
              <a:srgbClr val="194E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7455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808BA-224D-554D-8E3F-776806D9C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61" y="1091820"/>
            <a:ext cx="11134184" cy="598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A8B1F5F-8B46-975E-4688-02E3964CD08A}"/>
              </a:ext>
            </a:extLst>
          </p:cNvPr>
          <p:cNvSpPr txBox="1">
            <a:spLocks/>
          </p:cNvSpPr>
          <p:nvPr userDrawn="1"/>
        </p:nvSpPr>
        <p:spPr>
          <a:xfrm>
            <a:off x="8977724" y="463018"/>
            <a:ext cx="2743200" cy="1649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o-RO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698B14-68FA-413A-BC50-763A65A75409}" type="slidenum">
              <a:rPr lang="ro-RO" sz="1000" smtClean="0">
                <a:solidFill>
                  <a:schemeClr val="tx1"/>
                </a:solidFill>
                <a:latin typeface="+mj-lt"/>
              </a:rPr>
              <a:pPr/>
              <a:t>‹#›</a:t>
            </a:fld>
            <a:endParaRPr lang="ro-RO" sz="100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56784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Slide Fixe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98138D1A-C3A6-EC85-C434-F52EAC89C0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89635" y="1627348"/>
            <a:ext cx="6939916" cy="2336481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baseline="0">
                <a:solidFill>
                  <a:schemeClr val="tx1"/>
                </a:solidFill>
                <a:latin typeface="Roboto Medium" panose="02000000000000000000" pitchFamily="2" charset="0"/>
              </a:defRPr>
            </a:lvl1pPr>
          </a:lstStyle>
          <a:p>
            <a:r>
              <a:rPr lang="en-GB"/>
              <a:t>Your Gorgeous Title</a:t>
            </a:r>
            <a:endParaRPr lang="ro-RO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783ABFB0-D892-DB35-B947-DC66C1E2D6C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89635" y="4037174"/>
            <a:ext cx="6940550" cy="506413"/>
          </a:xfrm>
        </p:spPr>
        <p:txBody>
          <a:bodyPr>
            <a:noAutofit/>
          </a:bodyPr>
          <a:lstStyle>
            <a:lvl1pPr>
              <a:defRPr sz="3200"/>
            </a:lvl1pPr>
          </a:lstStyle>
          <a:p>
            <a:pPr lvl="0"/>
            <a:r>
              <a:rPr lang="en-US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679377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E4734-831F-1C4C-BBEB-904AFFD9D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61" y="1091821"/>
            <a:ext cx="11134184" cy="59368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20FE7-4EAC-254E-AA2E-AF380D16B8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61" y="2647665"/>
            <a:ext cx="11134183" cy="311851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ro-RO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80F77EE-AB20-E1FB-B6DD-5C8732A3AF93}"/>
              </a:ext>
            </a:extLst>
          </p:cNvPr>
          <p:cNvSpPr txBox="1">
            <a:spLocks/>
          </p:cNvSpPr>
          <p:nvPr userDrawn="1"/>
        </p:nvSpPr>
        <p:spPr>
          <a:xfrm>
            <a:off x="8977724" y="463018"/>
            <a:ext cx="2743200" cy="1649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o-RO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698B14-68FA-413A-BC50-763A65A75409}" type="slidenum">
              <a:rPr lang="ro-RO" sz="1000" smtClean="0">
                <a:solidFill>
                  <a:schemeClr val="tx1"/>
                </a:solidFill>
                <a:latin typeface="+mj-lt"/>
              </a:rPr>
              <a:pPr/>
              <a:t>‹#›</a:t>
            </a:fld>
            <a:endParaRPr lang="ro-RO" sz="100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185660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5FEC7-9CEB-4044-BAD0-AF9D151EE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1091820"/>
            <a:ext cx="11141804" cy="59886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1C66E-36AE-7443-BF7C-ABB1605FEF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0060" y="2647666"/>
            <a:ext cx="5479462" cy="31185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ro-R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4DCB9B-0CE6-2345-989F-A396873D8A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7928" y="2647666"/>
            <a:ext cx="5386316" cy="311851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ro-RO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F95081E-F8EA-229B-0ABC-78AF6490EE4F}"/>
              </a:ext>
            </a:extLst>
          </p:cNvPr>
          <p:cNvSpPr txBox="1">
            <a:spLocks/>
          </p:cNvSpPr>
          <p:nvPr userDrawn="1"/>
        </p:nvSpPr>
        <p:spPr>
          <a:xfrm>
            <a:off x="8977724" y="463018"/>
            <a:ext cx="2743200" cy="1649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o-RO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698B14-68FA-413A-BC50-763A65A75409}" type="slidenum">
              <a:rPr lang="ro-RO" sz="1000" smtClean="0">
                <a:solidFill>
                  <a:schemeClr val="tx1"/>
                </a:solidFill>
                <a:latin typeface="+mj-lt"/>
              </a:rPr>
              <a:pPr/>
              <a:t>‹#›</a:t>
            </a:fld>
            <a:endParaRPr lang="ro-RO" sz="100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838984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D31E4-8B39-4345-A787-4DAF9F353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1" y="1091821"/>
            <a:ext cx="11134980" cy="59886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ro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4609A7-8D77-754D-9F49-7F656D81D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0060" y="1690687"/>
            <a:ext cx="5478779" cy="8143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4578DF-6A62-6E45-BE3E-26302F4D4E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0060" y="2644139"/>
            <a:ext cx="5478779" cy="3122039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ro-R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BF3CC5-FE37-7F4F-833A-E69E5774CA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33162" y="1690687"/>
            <a:ext cx="5385632" cy="8143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E6807D-A720-F241-9BB2-F122E01910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33162" y="2644139"/>
            <a:ext cx="5385632" cy="3122040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ro-RO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5A9E9F2-3D91-499D-E9E4-52170B2ABD45}"/>
              </a:ext>
            </a:extLst>
          </p:cNvPr>
          <p:cNvSpPr txBox="1">
            <a:spLocks/>
          </p:cNvSpPr>
          <p:nvPr userDrawn="1"/>
        </p:nvSpPr>
        <p:spPr>
          <a:xfrm>
            <a:off x="8977724" y="463018"/>
            <a:ext cx="2743200" cy="1649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o-RO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698B14-68FA-413A-BC50-763A65A75409}" type="slidenum">
              <a:rPr lang="ro-RO" sz="1000" smtClean="0">
                <a:solidFill>
                  <a:schemeClr val="tx1"/>
                </a:solidFill>
                <a:latin typeface="+mj-lt"/>
              </a:rPr>
              <a:pPr/>
              <a:t>‹#›</a:t>
            </a:fld>
            <a:endParaRPr lang="ro-RO" sz="100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870027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7979A-6F45-3E4A-A60A-EFFA3826C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1097280"/>
            <a:ext cx="5486400" cy="96012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E547A6-5743-E643-B453-E57FD81B4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3160" y="1097280"/>
            <a:ext cx="5379720" cy="4671060"/>
          </a:xfrm>
        </p:spPr>
        <p:txBody>
          <a:bodyPr/>
          <a:lstStyle>
            <a:lvl1pPr marL="0" indent="0">
              <a:buFontTx/>
              <a:buNone/>
              <a:defRPr sz="3200"/>
            </a:lvl1pPr>
            <a:lvl2pPr marL="457200" indent="0">
              <a:buFontTx/>
              <a:buNone/>
              <a:defRPr sz="2800"/>
            </a:lvl2pPr>
            <a:lvl3pPr marL="914400" indent="0">
              <a:buFontTx/>
              <a:buNone/>
              <a:defRPr sz="24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ro-R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A95366-C54A-DC4F-BB94-E48789E2CE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440" y="2110740"/>
            <a:ext cx="5486400" cy="364998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6DCFD7E-9D42-62AC-A809-1AAE7C4FD245}"/>
              </a:ext>
            </a:extLst>
          </p:cNvPr>
          <p:cNvSpPr txBox="1">
            <a:spLocks/>
          </p:cNvSpPr>
          <p:nvPr userDrawn="1"/>
        </p:nvSpPr>
        <p:spPr>
          <a:xfrm>
            <a:off x="8977724" y="463018"/>
            <a:ext cx="2743200" cy="1649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o-RO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698B14-68FA-413A-BC50-763A65A75409}" type="slidenum">
              <a:rPr lang="ro-RO" sz="1000" smtClean="0">
                <a:solidFill>
                  <a:schemeClr val="tx1"/>
                </a:solidFill>
                <a:latin typeface="+mj-lt"/>
              </a:rPr>
              <a:pPr/>
              <a:t>‹#›</a:t>
            </a:fld>
            <a:endParaRPr lang="ro-RO" sz="100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078362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AA0D6-847E-0446-A7EE-29C6004BA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987424"/>
            <a:ext cx="4366260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ro-R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847C8B-D78A-2D4F-A119-C27F106644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528752" cy="478853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ro-R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2707EF-1848-FF46-882C-FD33F01F0B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440" y="2057400"/>
            <a:ext cx="4366260" cy="371855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E75D1F7-AC41-546B-3080-5C106F5F1B9C}"/>
              </a:ext>
            </a:extLst>
          </p:cNvPr>
          <p:cNvSpPr txBox="1">
            <a:spLocks/>
          </p:cNvSpPr>
          <p:nvPr userDrawn="1"/>
        </p:nvSpPr>
        <p:spPr>
          <a:xfrm>
            <a:off x="8977724" y="463018"/>
            <a:ext cx="2743200" cy="1649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o-RO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698B14-68FA-413A-BC50-763A65A75409}" type="slidenum">
              <a:rPr lang="ro-RO" sz="1000" smtClean="0">
                <a:solidFill>
                  <a:schemeClr val="tx1"/>
                </a:solidFill>
                <a:latin typeface="+mj-lt"/>
              </a:rPr>
              <a:pPr/>
              <a:t>‹#›</a:t>
            </a:fld>
            <a:endParaRPr lang="ro-RO" sz="100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197260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808BA-224D-554D-8E3F-776806D9C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61" y="1091820"/>
            <a:ext cx="11134184" cy="59886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133289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75A698-B3EA-814E-862F-371679D32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61" y="1091820"/>
            <a:ext cx="11134184" cy="5988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AF3A9-4B98-A046-8F42-C76F0F9EA1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0061" y="2647665"/>
            <a:ext cx="11134183" cy="31185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736619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62" r:id="rId11"/>
    <p:sldLayoutId id="2147483664" r:id="rId12"/>
    <p:sldLayoutId id="2147483665" r:id="rId13"/>
    <p:sldLayoutId id="2147483666" r:id="rId14"/>
    <p:sldLayoutId id="2147483667" r:id="rId15"/>
    <p:sldLayoutId id="2147483669" r:id="rId1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1425E-0EAC-F8AB-539C-E284904F4D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6362" y="3807980"/>
            <a:ext cx="4926677" cy="1318259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b="1" dirty="0">
                <a:ea typeface="Roboto Medium"/>
                <a:cs typeface="Roboto Medium"/>
              </a:rPr>
              <a:t>REST</a:t>
            </a:r>
            <a:endParaRPr lang="en-US" b="1" dirty="0">
              <a:solidFill>
                <a:srgbClr val="194EA5"/>
              </a:solidFill>
              <a:latin typeface="+mj-lt"/>
              <a:ea typeface="Roboto Medium"/>
              <a:cs typeface="Roboto Medium"/>
            </a:endParaRPr>
          </a:p>
        </p:txBody>
      </p:sp>
    </p:spTree>
    <p:extLst>
      <p:ext uri="{BB962C8B-B14F-4D97-AF65-F5344CB8AC3E}">
        <p14:creationId xmlns:p14="http://schemas.microsoft.com/office/powerpoint/2010/main" val="2922363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66B29-58F8-1DFF-F2AF-58937F510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1091820"/>
            <a:ext cx="11141804" cy="598867"/>
          </a:xfrm>
        </p:spPr>
        <p:txBody>
          <a:bodyPr anchor="ctr">
            <a:normAutofit/>
          </a:bodyPr>
          <a:lstStyle/>
          <a:p>
            <a:r>
              <a:rPr lang="en-US" sz="3400" dirty="0"/>
              <a:t>Three-tier architecture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2CFAEC6-5880-D749-A79E-DB22522EB24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2415373" y="2007108"/>
            <a:ext cx="7361253" cy="284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998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8AE0D-7804-7896-6481-79F3A9D64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0C833-5764-F8B4-BD77-FB5E47CAE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1091820"/>
            <a:ext cx="11141804" cy="598867"/>
          </a:xfrm>
        </p:spPr>
        <p:txBody>
          <a:bodyPr anchor="ctr">
            <a:normAutofit/>
          </a:bodyPr>
          <a:lstStyle/>
          <a:p>
            <a:r>
              <a:rPr lang="en-US" sz="3400" dirty="0"/>
              <a:t>DTO vs DAO</a:t>
            </a:r>
          </a:p>
        </p:txBody>
      </p:sp>
      <p:pic>
        <p:nvPicPr>
          <p:cNvPr id="7" name="Content Placeholder 6" descr="Diagram&#10;&#10;Description automatically generated">
            <a:extLst>
              <a:ext uri="{FF2B5EF4-FFF2-40B4-BE49-F238E27FC236}">
                <a16:creationId xmlns:a16="http://schemas.microsoft.com/office/drawing/2014/main" id="{48C43B30-8DA2-EE4C-8F78-5B55E777D1E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3216855" y="1150205"/>
            <a:ext cx="5758290" cy="455758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83354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21BBD-0704-222D-EE33-2D5E22363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47926-87E9-40FA-18EE-4B45CE10F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1091820"/>
            <a:ext cx="11141804" cy="598867"/>
          </a:xfrm>
        </p:spPr>
        <p:txBody>
          <a:bodyPr anchor="ctr">
            <a:normAutofit/>
          </a:bodyPr>
          <a:lstStyle/>
          <a:p>
            <a:r>
              <a:rPr lang="en-US" sz="3600" dirty="0"/>
              <a:t>REST (Representational State Transfer)</a:t>
            </a:r>
            <a:endParaRPr lang="en-US" sz="3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B4F760-D46E-BDCF-46D1-22CB672EFCB7}"/>
              </a:ext>
            </a:extLst>
          </p:cNvPr>
          <p:cNvSpPr txBox="1"/>
          <p:nvPr/>
        </p:nvSpPr>
        <p:spPr>
          <a:xfrm>
            <a:off x="472440" y="2761167"/>
            <a:ext cx="11241024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RO" dirty="0"/>
              <a:t>REST represents a collection of network architecture principles for API creation and it’s based on HTTP.</a:t>
            </a:r>
          </a:p>
          <a:p>
            <a:pPr>
              <a:lnSpc>
                <a:spcPct val="150000"/>
              </a:lnSpc>
            </a:pPr>
            <a:r>
              <a:rPr lang="en-RO" dirty="0"/>
              <a:t>It was introduced in the doctoral dissertation of R</a:t>
            </a:r>
            <a:r>
              <a:rPr lang="en-GB" dirty="0"/>
              <a:t>o</a:t>
            </a:r>
            <a:r>
              <a:rPr lang="en-RO" dirty="0"/>
              <a:t>y Fielding (One of the authors of the HTTP specification)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RO" dirty="0"/>
              <a:t>Simple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RO" dirty="0"/>
              <a:t>Scaleable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RO" dirty="0"/>
              <a:t>Stateless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5D9F1F-50E6-C654-DEAF-936A428063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2440" y="1946727"/>
            <a:ext cx="9870948" cy="781334"/>
          </a:xfrm>
        </p:spPr>
        <p:txBody>
          <a:bodyPr>
            <a:normAutofit fontScale="47500" lnSpcReduction="20000"/>
          </a:bodyPr>
          <a:lstStyle/>
          <a:p>
            <a:pPr>
              <a:lnSpc>
                <a:spcPct val="150000"/>
              </a:lnSpc>
            </a:pPr>
            <a:r>
              <a:rPr lang="en-RO" b="1" dirty="0"/>
              <a:t>HTTP </a:t>
            </a:r>
            <a:r>
              <a:rPr lang="en-RO" dirty="0"/>
              <a:t>– a communcation protocol</a:t>
            </a:r>
          </a:p>
          <a:p>
            <a:pPr>
              <a:lnSpc>
                <a:spcPct val="150000"/>
              </a:lnSpc>
            </a:pPr>
            <a:r>
              <a:rPr lang="en-RO" b="1" dirty="0"/>
              <a:t>API </a:t>
            </a:r>
            <a:r>
              <a:rPr lang="en-RO" dirty="0"/>
              <a:t>– Application programming interface</a:t>
            </a:r>
            <a:endParaRPr lang="en-RO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4239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5E73A-7499-1D63-33E8-40B13A3C0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AD4C1-C4C9-565B-2C01-60391F78C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1091820"/>
            <a:ext cx="11141804" cy="598867"/>
          </a:xfrm>
        </p:spPr>
        <p:txBody>
          <a:bodyPr anchor="ctr">
            <a:normAutofit/>
          </a:bodyPr>
          <a:lstStyle/>
          <a:p>
            <a:r>
              <a:rPr lang="en-US" sz="3600" dirty="0"/>
              <a:t>Http methods &amp; CRUD</a:t>
            </a:r>
            <a:endParaRPr lang="en-US" sz="3400" dirty="0"/>
          </a:p>
        </p:txBody>
      </p:sp>
      <p:pic>
        <p:nvPicPr>
          <p:cNvPr id="3" name="table">
            <a:extLst>
              <a:ext uri="{FF2B5EF4-FFF2-40B4-BE49-F238E27FC236}">
                <a16:creationId xmlns:a16="http://schemas.microsoft.com/office/drawing/2014/main" id="{ADB07559-F296-24D8-C7C6-0B1E3260E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750" y="2233930"/>
            <a:ext cx="9334500" cy="2390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0359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1C59C-AF7A-6E23-1E42-15B4A6CA6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92CB1-045E-3CF4-4B54-9FF6BBC19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1091820"/>
            <a:ext cx="11141804" cy="598867"/>
          </a:xfrm>
        </p:spPr>
        <p:txBody>
          <a:bodyPr anchor="ctr">
            <a:normAutofit/>
          </a:bodyPr>
          <a:lstStyle/>
          <a:p>
            <a:r>
              <a:rPr lang="en-US" sz="3600" dirty="0"/>
              <a:t>HTTP Status Codes</a:t>
            </a:r>
            <a:endParaRPr lang="en-US" sz="3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B4F66C-B111-CAB8-7B61-6FE26EE7D74C}"/>
              </a:ext>
            </a:extLst>
          </p:cNvPr>
          <p:cNvSpPr txBox="1"/>
          <p:nvPr/>
        </p:nvSpPr>
        <p:spPr>
          <a:xfrm>
            <a:off x="3047238" y="2159422"/>
            <a:ext cx="6094476" cy="2539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RO" dirty="0"/>
              <a:t>1xx – Informational responses. The server </a:t>
            </a:r>
            <a:r>
              <a:rPr lang="en-GB" dirty="0"/>
              <a:t>is thinking through the request.</a:t>
            </a:r>
          </a:p>
          <a:p>
            <a:pPr>
              <a:lnSpc>
                <a:spcPct val="150000"/>
              </a:lnSpc>
            </a:pPr>
            <a:r>
              <a:rPr lang="en-GB" dirty="0"/>
              <a:t>2xx – Success. The request was successfully completed.</a:t>
            </a:r>
          </a:p>
          <a:p>
            <a:pPr>
              <a:lnSpc>
                <a:spcPct val="150000"/>
              </a:lnSpc>
            </a:pPr>
            <a:r>
              <a:rPr lang="en-GB" dirty="0"/>
              <a:t>3xx – Redirection. You got redirected somewhere else.</a:t>
            </a:r>
          </a:p>
          <a:p>
            <a:pPr>
              <a:lnSpc>
                <a:spcPct val="150000"/>
              </a:lnSpc>
            </a:pPr>
            <a:r>
              <a:rPr lang="en-GB" dirty="0"/>
              <a:t>4xx – Client errors.</a:t>
            </a:r>
          </a:p>
          <a:p>
            <a:pPr>
              <a:lnSpc>
                <a:spcPct val="150000"/>
              </a:lnSpc>
            </a:pPr>
            <a:r>
              <a:rPr lang="en-GB" dirty="0"/>
              <a:t>5xx – Server errors.</a:t>
            </a:r>
            <a:endParaRPr lang="en-RO" dirty="0" err="1"/>
          </a:p>
        </p:txBody>
      </p:sp>
    </p:spTree>
    <p:extLst>
      <p:ext uri="{BB962C8B-B14F-4D97-AF65-F5344CB8AC3E}">
        <p14:creationId xmlns:p14="http://schemas.microsoft.com/office/powerpoint/2010/main" val="3180629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1AC23-D62A-358C-5415-B7AE4A9E0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4EA8E-0E22-64EE-4BD2-3560C58A7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1091820"/>
            <a:ext cx="11141804" cy="598867"/>
          </a:xfrm>
        </p:spPr>
        <p:txBody>
          <a:bodyPr anchor="ctr">
            <a:normAutofit/>
          </a:bodyPr>
          <a:lstStyle/>
          <a:p>
            <a:r>
              <a:rPr lang="en-US" sz="3600" dirty="0"/>
              <a:t>HTTP Status Codes</a:t>
            </a:r>
            <a:endParaRPr lang="en-US" sz="3400" dirty="0"/>
          </a:p>
        </p:txBody>
      </p:sp>
      <p:pic>
        <p:nvPicPr>
          <p:cNvPr id="3" name="table">
            <a:extLst>
              <a:ext uri="{FF2B5EF4-FFF2-40B4-BE49-F238E27FC236}">
                <a16:creationId xmlns:a16="http://schemas.microsoft.com/office/drawing/2014/main" id="{4516E187-6E19-1D4E-EAFB-61556A32DF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7448" y="1979676"/>
            <a:ext cx="8128000" cy="3703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0483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0ED98-A7E4-EC6D-3BE5-1C4884B70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11E82-2A84-A8AE-EAB5-019E51FEE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1091820"/>
            <a:ext cx="11141804" cy="598867"/>
          </a:xfrm>
        </p:spPr>
        <p:txBody>
          <a:bodyPr anchor="ctr">
            <a:normAutofit/>
          </a:bodyPr>
          <a:lstStyle/>
          <a:p>
            <a:r>
              <a:rPr lang="en-US" sz="3600" dirty="0"/>
              <a:t>HTTP Request &amp; Response</a:t>
            </a:r>
            <a:endParaRPr lang="en-US" sz="3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BF9652-7D27-BD4E-A4A0-1A956E3786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2942" y="1981708"/>
            <a:ext cx="8940800" cy="393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1389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1D872-908C-0E2F-D0DB-A7437EEFF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096C2-FBA9-AACC-195D-9C617397C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098" y="744348"/>
            <a:ext cx="11141804" cy="598867"/>
          </a:xfrm>
        </p:spPr>
        <p:txBody>
          <a:bodyPr anchor="ctr">
            <a:normAutofit/>
          </a:bodyPr>
          <a:lstStyle/>
          <a:p>
            <a:r>
              <a:rPr lang="en-US" sz="3600" dirty="0"/>
              <a:t>REST (Representational State Transfer)</a:t>
            </a:r>
            <a:endParaRPr lang="en-US" sz="3400" dirty="0"/>
          </a:p>
        </p:txBody>
      </p:sp>
      <p:sp>
        <p:nvSpPr>
          <p:cNvPr id="5" name="AutoShape 3">
            <a:extLst>
              <a:ext uri="{FF2B5EF4-FFF2-40B4-BE49-F238E27FC236}">
                <a16:creationId xmlns:a16="http://schemas.microsoft.com/office/drawing/2014/main" id="{407BB895-3CB6-E242-87DB-81A8825ABC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1156" y="2680055"/>
            <a:ext cx="2709687" cy="21896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597" tIns="50797" rIns="101597" bIns="50797" anchor="ctr"/>
          <a:lstStyle>
            <a:defPPr>
              <a:defRPr lang="en-US"/>
            </a:defPPr>
            <a:lvl1pPr marL="0" algn="l" defTabSz="10160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508000" algn="l" defTabSz="10160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1016000" algn="l" defTabSz="10160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524000" algn="l" defTabSz="10160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2032000" algn="l" defTabSz="10160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489200" algn="l" defTabSz="10160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946400" algn="l" defTabSz="10160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403600" algn="l" defTabSz="10160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860800" algn="l" defTabSz="10160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 algn="ctr">
              <a:spcBef>
                <a:spcPct val="50000"/>
              </a:spcBef>
              <a:buClr>
                <a:schemeClr val="accent2"/>
              </a:buClr>
              <a:buFont typeface="Wingdings" pitchFamily="2" charset="2"/>
              <a:buNone/>
            </a:pPr>
            <a:endParaRPr lang="en-RO" altLang="en-RO" sz="2700">
              <a:latin typeface="Arial" panose="020B0604020202020204" pitchFamily="34" charset="0"/>
            </a:endParaRPr>
          </a:p>
        </p:txBody>
      </p:sp>
      <p:sp>
        <p:nvSpPr>
          <p:cNvPr id="6" name="Text Box 18">
            <a:extLst>
              <a:ext uri="{FF2B5EF4-FFF2-40B4-BE49-F238E27FC236}">
                <a16:creationId xmlns:a16="http://schemas.microsoft.com/office/drawing/2014/main" id="{705C44AE-13CA-F548-B94A-22AB6FAC25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1792" y="3786542"/>
            <a:ext cx="12684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RO" sz="3200" dirty="0"/>
              <a:t>REST</a:t>
            </a: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C4C3A629-49F0-A845-9FC8-46D8EC52C1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6546" y="4768208"/>
            <a:ext cx="2420528" cy="1118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597" tIns="50797" rIns="101597" bIns="50797">
            <a:spAutoFit/>
          </a:bodyPr>
          <a:lstStyle>
            <a:defPPr>
              <a:defRPr lang="en-US"/>
            </a:defPPr>
            <a:lvl1pPr marL="0" algn="l" defTabSz="10160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508000" algn="l" defTabSz="10160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1016000" algn="l" defTabSz="10160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524000" algn="l" defTabSz="10160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2032000" algn="l" defTabSz="10160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489200" algn="l" defTabSz="10160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946400" algn="l" defTabSz="10160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403600" algn="l" defTabSz="10160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860800" algn="l" defTabSz="10160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en-US" altLang="en-RO" sz="2200" b="1" dirty="0">
                <a:latin typeface="Arial" panose="020B0604020202020204" pitchFamily="34" charset="0"/>
              </a:rPr>
              <a:t>Representations</a:t>
            </a:r>
            <a:br>
              <a:rPr lang="en-US" altLang="en-RO" sz="2200" b="1" dirty="0">
                <a:latin typeface="Arial" panose="020B0604020202020204" pitchFamily="34" charset="0"/>
              </a:rPr>
            </a:br>
            <a:r>
              <a:rPr lang="en-US" altLang="en-RO" sz="2200" i="1" dirty="0">
                <a:latin typeface="Arial" panose="020B0604020202020204" pitchFamily="34" charset="0"/>
              </a:rPr>
              <a:t>constrained</a:t>
            </a:r>
            <a:br>
              <a:rPr lang="en-US" altLang="en-RO" sz="2200" i="1" dirty="0">
                <a:latin typeface="Arial" panose="020B0604020202020204" pitchFamily="34" charset="0"/>
              </a:rPr>
            </a:br>
            <a:r>
              <a:rPr lang="en-US" altLang="en-RO" sz="2200" dirty="0">
                <a:latin typeface="Arial" panose="020B0604020202020204" pitchFamily="34" charset="0"/>
              </a:rPr>
              <a:t>i.e., XML, JSON</a:t>
            </a:r>
          </a:p>
        </p:txBody>
      </p:sp>
      <p:sp>
        <p:nvSpPr>
          <p:cNvPr id="9" name="Text Box 5">
            <a:extLst>
              <a:ext uri="{FF2B5EF4-FFF2-40B4-BE49-F238E27FC236}">
                <a16:creationId xmlns:a16="http://schemas.microsoft.com/office/drawing/2014/main" id="{BFF6D6FC-72D3-3942-ACF2-A24E185AB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6040" y="4768208"/>
            <a:ext cx="1649413" cy="1106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597" tIns="50797" rIns="101597" bIns="50797">
            <a:spAutoFit/>
          </a:bodyPr>
          <a:lstStyle>
            <a:defPPr>
              <a:defRPr lang="en-US"/>
            </a:defPPr>
            <a:lvl1pPr marL="0" algn="l" defTabSz="10160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508000" algn="l" defTabSz="10160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1016000" algn="l" defTabSz="10160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524000" algn="l" defTabSz="10160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2032000" algn="l" defTabSz="10160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489200" algn="l" defTabSz="10160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946400" algn="l" defTabSz="10160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403600" algn="l" defTabSz="10160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860800" algn="l" defTabSz="10160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en-US" altLang="en-RO" sz="2200" b="1" dirty="0">
                <a:latin typeface="Arial" panose="020B0604020202020204" pitchFamily="34" charset="0"/>
              </a:rPr>
              <a:t>Verbs</a:t>
            </a:r>
            <a:br>
              <a:rPr lang="en-US" altLang="en-RO" sz="2200" b="1" dirty="0">
                <a:latin typeface="Arial" panose="020B0604020202020204" pitchFamily="34" charset="0"/>
              </a:rPr>
            </a:br>
            <a:r>
              <a:rPr lang="en-US" altLang="en-RO" sz="2200" i="1" dirty="0">
                <a:latin typeface="Arial" panose="020B0604020202020204" pitchFamily="34" charset="0"/>
              </a:rPr>
              <a:t>constrained</a:t>
            </a:r>
            <a:br>
              <a:rPr lang="en-US" altLang="en-RO" sz="2200" dirty="0">
                <a:latin typeface="Arial" panose="020B0604020202020204" pitchFamily="34" charset="0"/>
              </a:rPr>
            </a:br>
            <a:r>
              <a:rPr lang="en-US" altLang="en-RO" sz="2200" dirty="0">
                <a:latin typeface="Arial" panose="020B0604020202020204" pitchFamily="34" charset="0"/>
              </a:rPr>
              <a:t>i.e., GET</a:t>
            </a:r>
          </a:p>
        </p:txBody>
      </p:sp>
      <p:sp>
        <p:nvSpPr>
          <p:cNvPr id="14" name="Text Box 4">
            <a:extLst>
              <a:ext uri="{FF2B5EF4-FFF2-40B4-BE49-F238E27FC236}">
                <a16:creationId xmlns:a16="http://schemas.microsoft.com/office/drawing/2014/main" id="{5FDA9C89-AF09-F047-8583-D1152C0FEF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5185" y="1381381"/>
            <a:ext cx="5381625" cy="1106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597" tIns="50797" rIns="101597" bIns="50797">
            <a:spAutoFit/>
          </a:bodyPr>
          <a:lstStyle>
            <a:defPPr>
              <a:defRPr lang="en-US"/>
            </a:defPPr>
            <a:lvl1pPr marL="0" algn="l" defTabSz="10160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508000" algn="l" defTabSz="10160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1016000" algn="l" defTabSz="10160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524000" algn="l" defTabSz="10160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2032000" algn="l" defTabSz="10160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489200" algn="l" defTabSz="10160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946400" algn="l" defTabSz="10160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403600" algn="l" defTabSz="10160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860800" algn="l" defTabSz="10160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en-US" altLang="en-RO" sz="2200" b="1" dirty="0">
                <a:latin typeface="Arial" panose="020B0604020202020204" pitchFamily="34" charset="0"/>
              </a:rPr>
              <a:t>Nouns (Resources)</a:t>
            </a:r>
            <a:br>
              <a:rPr lang="en-US" altLang="en-RO" sz="2200" b="1" dirty="0">
                <a:latin typeface="Arial" panose="020B0604020202020204" pitchFamily="34" charset="0"/>
              </a:rPr>
            </a:br>
            <a:r>
              <a:rPr lang="en-US" altLang="en-RO" sz="2200" i="1" dirty="0">
                <a:latin typeface="Arial" panose="020B0604020202020204" pitchFamily="34" charset="0"/>
              </a:rPr>
              <a:t>unconstrained</a:t>
            </a:r>
            <a:br>
              <a:rPr lang="en-US" altLang="en-RO" sz="2200" dirty="0">
                <a:latin typeface="Arial" panose="020B0604020202020204" pitchFamily="34" charset="0"/>
              </a:rPr>
            </a:br>
            <a:r>
              <a:rPr lang="en-US" altLang="en-RO" sz="2200" dirty="0">
                <a:latin typeface="Arial" panose="020B0604020202020204" pitchFamily="34" charset="0"/>
              </a:rPr>
              <a:t>i.e., http://</a:t>
            </a:r>
            <a:r>
              <a:rPr lang="en-US" altLang="en-RO" sz="2200" dirty="0" err="1">
                <a:latin typeface="Arial" panose="020B0604020202020204" pitchFamily="34" charset="0"/>
              </a:rPr>
              <a:t>example.com</a:t>
            </a:r>
            <a:r>
              <a:rPr lang="en-US" altLang="en-RO" sz="2200" dirty="0">
                <a:latin typeface="Arial" panose="020B0604020202020204" pitchFamily="34" charset="0"/>
              </a:rPr>
              <a:t>/employees/12345</a:t>
            </a:r>
          </a:p>
        </p:txBody>
      </p:sp>
    </p:spTree>
    <p:extLst>
      <p:ext uri="{BB962C8B-B14F-4D97-AF65-F5344CB8AC3E}">
        <p14:creationId xmlns:p14="http://schemas.microsoft.com/office/powerpoint/2010/main" val="1695305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EA364-EC10-8984-B353-5A94F724F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AA411-D885-54E4-3CD3-5CB0DD268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098" y="744348"/>
            <a:ext cx="11141804" cy="598867"/>
          </a:xfrm>
        </p:spPr>
        <p:txBody>
          <a:bodyPr anchor="ctr">
            <a:normAutofit/>
          </a:bodyPr>
          <a:lstStyle/>
          <a:p>
            <a:r>
              <a:rPr lang="en-US" sz="3600" dirty="0"/>
              <a:t>REST (Representational State Transfer)</a:t>
            </a:r>
            <a:endParaRPr lang="en-US" sz="3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8A2297-B652-BDB7-45FA-29EE163484AE}"/>
              </a:ext>
            </a:extLst>
          </p:cNvPr>
          <p:cNvSpPr txBox="1"/>
          <p:nvPr/>
        </p:nvSpPr>
        <p:spPr>
          <a:xfrm>
            <a:off x="886968" y="1536174"/>
            <a:ext cx="825474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RO" dirty="0"/>
              <a:t>The key abstraction of information in REST is a resource.</a:t>
            </a:r>
          </a:p>
          <a:p>
            <a:pPr>
              <a:lnSpc>
                <a:spcPct val="150000"/>
              </a:lnSpc>
            </a:pPr>
            <a:r>
              <a:rPr lang="en-RO" dirty="0"/>
              <a:t>A resource is a conceptual mapping to a set of entities.</a:t>
            </a:r>
          </a:p>
          <a:p>
            <a:pPr>
              <a:lnSpc>
                <a:spcPct val="150000"/>
              </a:lnSpc>
            </a:pPr>
            <a:r>
              <a:rPr lang="en-RO" dirty="0"/>
              <a:t>They should be </a:t>
            </a:r>
            <a:r>
              <a:rPr lang="en-RO" b="1" dirty="0"/>
              <a:t>nouns.</a:t>
            </a:r>
          </a:p>
          <a:p>
            <a:pPr>
              <a:lnSpc>
                <a:spcPct val="150000"/>
              </a:lnSpc>
            </a:pPr>
            <a:r>
              <a:rPr lang="en-RO" dirty="0"/>
              <a:t>Examples: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RO" dirty="0"/>
              <a:t>Create a car: POST /cars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RO" dirty="0"/>
              <a:t>Fetch all the cars: GET /cars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RO" dirty="0"/>
              <a:t>Get a specific car: GET /cars/1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RO" dirty="0"/>
              <a:t>Delete a car: DELETE /cars/1</a:t>
            </a:r>
          </a:p>
          <a:p>
            <a:pPr>
              <a:lnSpc>
                <a:spcPct val="150000"/>
              </a:lnSpc>
            </a:pPr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16011589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82D2B-287D-7C28-B2F2-29129A672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91A15-FD38-FF49-83F3-A8BF8B2A9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098" y="716916"/>
            <a:ext cx="11141804" cy="598867"/>
          </a:xfrm>
        </p:spPr>
        <p:txBody>
          <a:bodyPr anchor="ctr">
            <a:normAutofit/>
          </a:bodyPr>
          <a:lstStyle/>
          <a:p>
            <a:r>
              <a:rPr lang="en-US" sz="3600" dirty="0"/>
              <a:t>SPRING</a:t>
            </a:r>
            <a:endParaRPr lang="en-US" sz="3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53C88B-8A85-AA4B-BF31-E0785DD933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4352" y="1223958"/>
            <a:ext cx="8990669" cy="4922391"/>
          </a:xfrm>
          <a:prstGeom prst="rect">
            <a:avLst/>
          </a:prstGeom>
          <a:noFill/>
        </p:spPr>
      </p:pic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03424675-E33A-445C-A200-18097DC68C00}"/>
              </a:ext>
            </a:extLst>
          </p:cNvPr>
          <p:cNvSpPr>
            <a:spLocks noGrp="1"/>
          </p:cNvSpPr>
          <p:nvPr/>
        </p:nvSpPr>
        <p:spPr bwMode="gray">
          <a:xfrm>
            <a:off x="852800" y="6443574"/>
            <a:ext cx="495300" cy="18811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DDD2A080-DA64-4F5C-9131-47EB793B4410}" type="slidenum">
              <a:rPr lang="en-GB" noProof="0" smtClean="0"/>
              <a:pPr>
                <a:spcAft>
                  <a:spcPts val="600"/>
                </a:spcAft>
              </a:pPr>
              <a:t>11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437468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ITSS Roboto">
      <a:majorFont>
        <a:latin typeface="Roboto Medium"/>
        <a:ea typeface=""/>
        <a:cs typeface=""/>
      </a:majorFont>
      <a:minorFont>
        <a:latin typeface="Robot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ctr">
          <a:defRPr sz="1000" dirty="0" smtClean="0">
            <a:latin typeface="Roboto Light" panose="02000000000000000000" pitchFamily="2" charset="0"/>
            <a:ea typeface="Roboto Light" panose="020000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ITSS template simple v01 2023 .potx" id="{291087DE-49C5-4F63-8C49-0913628F46B7}" vid="{70AC428F-BEED-44E7-BB71-7F1B8D91073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576DEA48D4D2148B77257000BB46D40" ma:contentTypeVersion="14" ma:contentTypeDescription="Create a new document." ma:contentTypeScope="" ma:versionID="9a9b8eeefed18b16d1f591022d1c4a0a">
  <xsd:schema xmlns:xsd="http://www.w3.org/2001/XMLSchema" xmlns:xs="http://www.w3.org/2001/XMLSchema" xmlns:p="http://schemas.microsoft.com/office/2006/metadata/properties" xmlns:ns2="9fdbb4ac-57f0-4155-9258-15310c4b7c2c" xmlns:ns3="f2327160-3c29-4b32-9d12-d1bf3900ce19" targetNamespace="http://schemas.microsoft.com/office/2006/metadata/properties" ma:root="true" ma:fieldsID="57e3e8a0ee7d57f5f622a22c4dbf388f" ns2:_="" ns3:_="">
    <xsd:import namespace="9fdbb4ac-57f0-4155-9258-15310c4b7c2c"/>
    <xsd:import namespace="f2327160-3c29-4b32-9d12-d1bf3900ce1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dbb4ac-57f0-4155-9258-15310c4b7c2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040045a-424b-47e5-96a8-15817e74bfc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327160-3c29-4b32-9d12-d1bf3900ce19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9448d754-18b9-4bde-a7aa-1238c9d4a016}" ma:internalName="TaxCatchAll" ma:showField="CatchAllData" ma:web="f2327160-3c29-4b32-9d12-d1bf3900ce1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2327160-3c29-4b32-9d12-d1bf3900ce19" xsi:nil="true"/>
    <lcf76f155ced4ddcb4097134ff3c332f xmlns="9fdbb4ac-57f0-4155-9258-15310c4b7c2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05CC669-0EDC-4C1E-8DAA-BB249DEB511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C6A6C3E-FFE8-4483-9855-C138C5313D4D}">
  <ds:schemaRefs>
    <ds:schemaRef ds:uri="9fdbb4ac-57f0-4155-9258-15310c4b7c2c"/>
    <ds:schemaRef ds:uri="f2327160-3c29-4b32-9d12-d1bf3900ce1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64D8D2B7-E63E-47E8-829B-111CFA3DF0BC}">
  <ds:schemaRefs>
    <ds:schemaRef ds:uri="9fdbb4ac-57f0-4155-9258-15310c4b7c2c"/>
    <ds:schemaRef ds:uri="f2327160-3c29-4b32-9d12-d1bf3900ce1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</TotalTime>
  <Words>251</Words>
  <Application>Microsoft Office PowerPoint</Application>
  <PresentationFormat>Widescreen</PresentationFormat>
  <Paragraphs>47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Arial</vt:lpstr>
      <vt:lpstr>Roboto</vt:lpstr>
      <vt:lpstr>Roboto Light</vt:lpstr>
      <vt:lpstr>Roboto Medium</vt:lpstr>
      <vt:lpstr>Wingdings</vt:lpstr>
      <vt:lpstr>Office Theme</vt:lpstr>
      <vt:lpstr>REST</vt:lpstr>
      <vt:lpstr>Three-tier architecture</vt:lpstr>
      <vt:lpstr>DTO vs DAO</vt:lpstr>
      <vt:lpstr>REST (Representational State Transfer)</vt:lpstr>
      <vt:lpstr>Http methods &amp; CRUD</vt:lpstr>
      <vt:lpstr>HTTP Status Codes</vt:lpstr>
      <vt:lpstr>HTTP Status Codes</vt:lpstr>
      <vt:lpstr>HTTP Request &amp; Response</vt:lpstr>
      <vt:lpstr>REST (Representational State Transfer)</vt:lpstr>
      <vt:lpstr>REST (Representational State Transfer)</vt:lpstr>
      <vt:lpstr>SPRING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Cristian Zainea</dc:creator>
  <cp:lastModifiedBy>Bogdan David</cp:lastModifiedBy>
  <cp:revision>20</cp:revision>
  <dcterms:created xsi:type="dcterms:W3CDTF">2025-05-21T14:36:18Z</dcterms:created>
  <dcterms:modified xsi:type="dcterms:W3CDTF">2025-09-27T22:04:56Z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0x0101003576DEA48D4D2148B77257000BB46D40</vt:lpwstr>
  </property>
  <property fmtid="{D5CDD505-2E9C-101B-9397-08002B2CF9AE}" pid="3" name="MediaServiceImageTags">
    <vt:lpwstr/>
  </property>
</Properties>
</file>